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58" r:id="rId6"/>
    <p:sldId id="259" r:id="rId7"/>
    <p:sldId id="260" r:id="rId8"/>
    <p:sldId id="261" r:id="rId9"/>
    <p:sldId id="262" r:id="rId10"/>
    <p:sldId id="263" r:id="rId11"/>
    <p:sldId id="266" r:id="rId12"/>
    <p:sldId id="272" r:id="rId13"/>
    <p:sldId id="270" r:id="rId14"/>
    <p:sldId id="271"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15671-AA63-63E0-643C-7CC1C7FEB6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8DE85A-397A-5933-380D-79AB5B6ADC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4FD2D9-2F3B-F3BE-93F6-7890CA32CA26}"/>
              </a:ext>
            </a:extLst>
          </p:cNvPr>
          <p:cNvSpPr>
            <a:spLocks noGrp="1"/>
          </p:cNvSpPr>
          <p:nvPr>
            <p:ph type="dt" sz="half" idx="10"/>
          </p:nvPr>
        </p:nvSpPr>
        <p:spPr/>
        <p:txBody>
          <a:bodyPr/>
          <a:lstStyle/>
          <a:p>
            <a:fld id="{76360C9E-66B4-47E0-B389-3B24321E9920}" type="datetimeFigureOut">
              <a:rPr lang="en-US" smtClean="0"/>
              <a:t>9/20/2026</a:t>
            </a:fld>
            <a:endParaRPr lang="en-US"/>
          </a:p>
        </p:txBody>
      </p:sp>
      <p:sp>
        <p:nvSpPr>
          <p:cNvPr id="5" name="Footer Placeholder 4">
            <a:extLst>
              <a:ext uri="{FF2B5EF4-FFF2-40B4-BE49-F238E27FC236}">
                <a16:creationId xmlns:a16="http://schemas.microsoft.com/office/drawing/2014/main" id="{14D47447-AED2-9984-31AD-F4DDBA4FA4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167890-5ED8-A966-DFD7-156B0CF34E3E}"/>
              </a:ext>
            </a:extLst>
          </p:cNvPr>
          <p:cNvSpPr>
            <a:spLocks noGrp="1"/>
          </p:cNvSpPr>
          <p:nvPr>
            <p:ph type="sldNum" sz="quarter" idx="12"/>
          </p:nvPr>
        </p:nvSpPr>
        <p:spPr/>
        <p:txBody>
          <a:bodyPr/>
          <a:lstStyle/>
          <a:p>
            <a:fld id="{7D3BB165-CE28-4BCC-8549-2B6D7D0763B6}" type="slidenum">
              <a:rPr lang="en-US" smtClean="0"/>
              <a:t>‹#›</a:t>
            </a:fld>
            <a:endParaRPr lang="en-US"/>
          </a:p>
        </p:txBody>
      </p:sp>
    </p:spTree>
    <p:extLst>
      <p:ext uri="{BB962C8B-B14F-4D97-AF65-F5344CB8AC3E}">
        <p14:creationId xmlns:p14="http://schemas.microsoft.com/office/powerpoint/2010/main" val="541678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FA2D3-F05D-D6CF-75AA-C16FBD1BF8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9F43F0-4991-409C-C94E-E2ABC2F6B0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DB576-F44C-2972-B6C2-DC20D0D95343}"/>
              </a:ext>
            </a:extLst>
          </p:cNvPr>
          <p:cNvSpPr>
            <a:spLocks noGrp="1"/>
          </p:cNvSpPr>
          <p:nvPr>
            <p:ph type="dt" sz="half" idx="10"/>
          </p:nvPr>
        </p:nvSpPr>
        <p:spPr/>
        <p:txBody>
          <a:bodyPr/>
          <a:lstStyle/>
          <a:p>
            <a:fld id="{76360C9E-66B4-47E0-B389-3B24321E9920}" type="datetimeFigureOut">
              <a:rPr lang="en-US" smtClean="0"/>
              <a:t>9/20/2026</a:t>
            </a:fld>
            <a:endParaRPr lang="en-US"/>
          </a:p>
        </p:txBody>
      </p:sp>
      <p:sp>
        <p:nvSpPr>
          <p:cNvPr id="5" name="Footer Placeholder 4">
            <a:extLst>
              <a:ext uri="{FF2B5EF4-FFF2-40B4-BE49-F238E27FC236}">
                <a16:creationId xmlns:a16="http://schemas.microsoft.com/office/drawing/2014/main" id="{49769B8F-CA2D-E39D-CBFF-0ABCDFC400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36BCD2-DA9B-D690-E115-63E9D17BFE40}"/>
              </a:ext>
            </a:extLst>
          </p:cNvPr>
          <p:cNvSpPr>
            <a:spLocks noGrp="1"/>
          </p:cNvSpPr>
          <p:nvPr>
            <p:ph type="sldNum" sz="quarter" idx="12"/>
          </p:nvPr>
        </p:nvSpPr>
        <p:spPr/>
        <p:txBody>
          <a:bodyPr/>
          <a:lstStyle/>
          <a:p>
            <a:fld id="{7D3BB165-CE28-4BCC-8549-2B6D7D0763B6}" type="slidenum">
              <a:rPr lang="en-US" smtClean="0"/>
              <a:t>‹#›</a:t>
            </a:fld>
            <a:endParaRPr lang="en-US"/>
          </a:p>
        </p:txBody>
      </p:sp>
    </p:spTree>
    <p:extLst>
      <p:ext uri="{BB962C8B-B14F-4D97-AF65-F5344CB8AC3E}">
        <p14:creationId xmlns:p14="http://schemas.microsoft.com/office/powerpoint/2010/main" val="1630990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77DC-E38F-FD8F-C264-C0A765DDF6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C43D49-C8DC-B3D4-6F62-55229E5E5C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8983AE-FFBE-543F-B796-B5D2E446BCCC}"/>
              </a:ext>
            </a:extLst>
          </p:cNvPr>
          <p:cNvSpPr>
            <a:spLocks noGrp="1"/>
          </p:cNvSpPr>
          <p:nvPr>
            <p:ph type="dt" sz="half" idx="10"/>
          </p:nvPr>
        </p:nvSpPr>
        <p:spPr/>
        <p:txBody>
          <a:bodyPr/>
          <a:lstStyle/>
          <a:p>
            <a:fld id="{76360C9E-66B4-47E0-B389-3B24321E9920}" type="datetimeFigureOut">
              <a:rPr lang="en-US" smtClean="0"/>
              <a:t>9/20/2026</a:t>
            </a:fld>
            <a:endParaRPr lang="en-US"/>
          </a:p>
        </p:txBody>
      </p:sp>
      <p:sp>
        <p:nvSpPr>
          <p:cNvPr id="5" name="Footer Placeholder 4">
            <a:extLst>
              <a:ext uri="{FF2B5EF4-FFF2-40B4-BE49-F238E27FC236}">
                <a16:creationId xmlns:a16="http://schemas.microsoft.com/office/drawing/2014/main" id="{7718C335-75A3-C3AE-85BF-315F1ECC95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4E75E6-1EEB-D299-A532-5CA768FB5E10}"/>
              </a:ext>
            </a:extLst>
          </p:cNvPr>
          <p:cNvSpPr>
            <a:spLocks noGrp="1"/>
          </p:cNvSpPr>
          <p:nvPr>
            <p:ph type="sldNum" sz="quarter" idx="12"/>
          </p:nvPr>
        </p:nvSpPr>
        <p:spPr/>
        <p:txBody>
          <a:bodyPr/>
          <a:lstStyle/>
          <a:p>
            <a:fld id="{7D3BB165-CE28-4BCC-8549-2B6D7D0763B6}" type="slidenum">
              <a:rPr lang="en-US" smtClean="0"/>
              <a:t>‹#›</a:t>
            </a:fld>
            <a:endParaRPr lang="en-US"/>
          </a:p>
        </p:txBody>
      </p:sp>
    </p:spTree>
    <p:extLst>
      <p:ext uri="{BB962C8B-B14F-4D97-AF65-F5344CB8AC3E}">
        <p14:creationId xmlns:p14="http://schemas.microsoft.com/office/powerpoint/2010/main" val="1383866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029BF-92C9-FEEB-A021-51167F6F08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8E41ED-9342-6A88-FC38-7DA338A850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23A7B-337D-CDDF-8FF2-A939B72533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37F1BD-C5F1-B677-46F9-542BFFAFCBA3}"/>
              </a:ext>
            </a:extLst>
          </p:cNvPr>
          <p:cNvSpPr>
            <a:spLocks noGrp="1"/>
          </p:cNvSpPr>
          <p:nvPr>
            <p:ph type="dt" sz="half" idx="10"/>
          </p:nvPr>
        </p:nvSpPr>
        <p:spPr/>
        <p:txBody>
          <a:bodyPr/>
          <a:lstStyle/>
          <a:p>
            <a:fld id="{76360C9E-66B4-47E0-B389-3B24321E9920}" type="datetimeFigureOut">
              <a:rPr lang="en-US" smtClean="0"/>
              <a:t>9/20/2026</a:t>
            </a:fld>
            <a:endParaRPr lang="en-US"/>
          </a:p>
        </p:txBody>
      </p:sp>
      <p:sp>
        <p:nvSpPr>
          <p:cNvPr id="6" name="Footer Placeholder 5">
            <a:extLst>
              <a:ext uri="{FF2B5EF4-FFF2-40B4-BE49-F238E27FC236}">
                <a16:creationId xmlns:a16="http://schemas.microsoft.com/office/drawing/2014/main" id="{2B6B9E9B-7A97-C7E7-148F-EE6F82186B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90D228-54B7-BB0E-FFE7-A9E7CE8E4D9E}"/>
              </a:ext>
            </a:extLst>
          </p:cNvPr>
          <p:cNvSpPr>
            <a:spLocks noGrp="1"/>
          </p:cNvSpPr>
          <p:nvPr>
            <p:ph type="sldNum" sz="quarter" idx="12"/>
          </p:nvPr>
        </p:nvSpPr>
        <p:spPr/>
        <p:txBody>
          <a:bodyPr/>
          <a:lstStyle/>
          <a:p>
            <a:fld id="{7D3BB165-CE28-4BCC-8549-2B6D7D0763B6}" type="slidenum">
              <a:rPr lang="en-US" smtClean="0"/>
              <a:t>‹#›</a:t>
            </a:fld>
            <a:endParaRPr lang="en-US"/>
          </a:p>
        </p:txBody>
      </p:sp>
    </p:spTree>
    <p:extLst>
      <p:ext uri="{BB962C8B-B14F-4D97-AF65-F5344CB8AC3E}">
        <p14:creationId xmlns:p14="http://schemas.microsoft.com/office/powerpoint/2010/main" val="953513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9795B-75E5-71D7-79B6-44BF373EAA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2FE97E-305C-4EF5-E419-590D0AEF3A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1F0E62-AA2A-7691-E795-450959C4DF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8A4115-BEB1-167B-C8DD-D91B0E4E66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7F0948-2510-1C31-5B7A-58F78EBBA5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35D70E-0BD3-C5B0-5F35-50ECAB1B8BEC}"/>
              </a:ext>
            </a:extLst>
          </p:cNvPr>
          <p:cNvSpPr>
            <a:spLocks noGrp="1"/>
          </p:cNvSpPr>
          <p:nvPr>
            <p:ph type="dt" sz="half" idx="10"/>
          </p:nvPr>
        </p:nvSpPr>
        <p:spPr/>
        <p:txBody>
          <a:bodyPr/>
          <a:lstStyle/>
          <a:p>
            <a:fld id="{76360C9E-66B4-47E0-B389-3B24321E9920}" type="datetimeFigureOut">
              <a:rPr lang="en-US" smtClean="0"/>
              <a:t>9/20/2026</a:t>
            </a:fld>
            <a:endParaRPr lang="en-US"/>
          </a:p>
        </p:txBody>
      </p:sp>
      <p:sp>
        <p:nvSpPr>
          <p:cNvPr id="8" name="Footer Placeholder 7">
            <a:extLst>
              <a:ext uri="{FF2B5EF4-FFF2-40B4-BE49-F238E27FC236}">
                <a16:creationId xmlns:a16="http://schemas.microsoft.com/office/drawing/2014/main" id="{6D08652F-B24F-D661-FEB3-812EFDDC0F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340EAB-BFDA-6550-29DF-82BCD7879F5D}"/>
              </a:ext>
            </a:extLst>
          </p:cNvPr>
          <p:cNvSpPr>
            <a:spLocks noGrp="1"/>
          </p:cNvSpPr>
          <p:nvPr>
            <p:ph type="sldNum" sz="quarter" idx="12"/>
          </p:nvPr>
        </p:nvSpPr>
        <p:spPr/>
        <p:txBody>
          <a:bodyPr/>
          <a:lstStyle/>
          <a:p>
            <a:fld id="{7D3BB165-CE28-4BCC-8549-2B6D7D0763B6}" type="slidenum">
              <a:rPr lang="en-US" smtClean="0"/>
              <a:t>‹#›</a:t>
            </a:fld>
            <a:endParaRPr lang="en-US"/>
          </a:p>
        </p:txBody>
      </p:sp>
    </p:spTree>
    <p:extLst>
      <p:ext uri="{BB962C8B-B14F-4D97-AF65-F5344CB8AC3E}">
        <p14:creationId xmlns:p14="http://schemas.microsoft.com/office/powerpoint/2010/main" val="2603745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EECBC-C850-0955-F327-0BC9B86F73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66C960-FD7F-0151-A811-4D5471A7539E}"/>
              </a:ext>
            </a:extLst>
          </p:cNvPr>
          <p:cNvSpPr>
            <a:spLocks noGrp="1"/>
          </p:cNvSpPr>
          <p:nvPr>
            <p:ph type="dt" sz="half" idx="10"/>
          </p:nvPr>
        </p:nvSpPr>
        <p:spPr/>
        <p:txBody>
          <a:bodyPr/>
          <a:lstStyle/>
          <a:p>
            <a:fld id="{76360C9E-66B4-47E0-B389-3B24321E9920}" type="datetimeFigureOut">
              <a:rPr lang="en-US" smtClean="0"/>
              <a:t>9/20/2026</a:t>
            </a:fld>
            <a:endParaRPr lang="en-US"/>
          </a:p>
        </p:txBody>
      </p:sp>
      <p:sp>
        <p:nvSpPr>
          <p:cNvPr id="4" name="Footer Placeholder 3">
            <a:extLst>
              <a:ext uri="{FF2B5EF4-FFF2-40B4-BE49-F238E27FC236}">
                <a16:creationId xmlns:a16="http://schemas.microsoft.com/office/drawing/2014/main" id="{6FE0DA21-ADB1-D06E-CEFF-883407815D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26E135-6B59-B75F-E266-B52209889E21}"/>
              </a:ext>
            </a:extLst>
          </p:cNvPr>
          <p:cNvSpPr>
            <a:spLocks noGrp="1"/>
          </p:cNvSpPr>
          <p:nvPr>
            <p:ph type="sldNum" sz="quarter" idx="12"/>
          </p:nvPr>
        </p:nvSpPr>
        <p:spPr/>
        <p:txBody>
          <a:bodyPr/>
          <a:lstStyle/>
          <a:p>
            <a:fld id="{7D3BB165-CE28-4BCC-8549-2B6D7D0763B6}" type="slidenum">
              <a:rPr lang="en-US" smtClean="0"/>
              <a:t>‹#›</a:t>
            </a:fld>
            <a:endParaRPr lang="en-US"/>
          </a:p>
        </p:txBody>
      </p:sp>
    </p:spTree>
    <p:extLst>
      <p:ext uri="{BB962C8B-B14F-4D97-AF65-F5344CB8AC3E}">
        <p14:creationId xmlns:p14="http://schemas.microsoft.com/office/powerpoint/2010/main" val="3457260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F6E8A0-3290-8FD4-6833-6CCFF9F25CC4}"/>
              </a:ext>
            </a:extLst>
          </p:cNvPr>
          <p:cNvSpPr>
            <a:spLocks noGrp="1"/>
          </p:cNvSpPr>
          <p:nvPr>
            <p:ph type="dt" sz="half" idx="10"/>
          </p:nvPr>
        </p:nvSpPr>
        <p:spPr/>
        <p:txBody>
          <a:bodyPr/>
          <a:lstStyle/>
          <a:p>
            <a:fld id="{76360C9E-66B4-47E0-B389-3B24321E9920}" type="datetimeFigureOut">
              <a:rPr lang="en-US" smtClean="0"/>
              <a:t>9/20/2026</a:t>
            </a:fld>
            <a:endParaRPr lang="en-US"/>
          </a:p>
        </p:txBody>
      </p:sp>
      <p:sp>
        <p:nvSpPr>
          <p:cNvPr id="3" name="Footer Placeholder 2">
            <a:extLst>
              <a:ext uri="{FF2B5EF4-FFF2-40B4-BE49-F238E27FC236}">
                <a16:creationId xmlns:a16="http://schemas.microsoft.com/office/drawing/2014/main" id="{0E6F8208-0C8C-53DF-4906-6FA2FB86D5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941D5B-8154-F83A-E67E-630BB721E4C6}"/>
              </a:ext>
            </a:extLst>
          </p:cNvPr>
          <p:cNvSpPr>
            <a:spLocks noGrp="1"/>
          </p:cNvSpPr>
          <p:nvPr>
            <p:ph type="sldNum" sz="quarter" idx="12"/>
          </p:nvPr>
        </p:nvSpPr>
        <p:spPr/>
        <p:txBody>
          <a:bodyPr/>
          <a:lstStyle/>
          <a:p>
            <a:fld id="{7D3BB165-CE28-4BCC-8549-2B6D7D0763B6}" type="slidenum">
              <a:rPr lang="en-US" smtClean="0"/>
              <a:t>‹#›</a:t>
            </a:fld>
            <a:endParaRPr lang="en-US"/>
          </a:p>
        </p:txBody>
      </p:sp>
    </p:spTree>
    <p:extLst>
      <p:ext uri="{BB962C8B-B14F-4D97-AF65-F5344CB8AC3E}">
        <p14:creationId xmlns:p14="http://schemas.microsoft.com/office/powerpoint/2010/main" val="1854243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94123-C205-4550-CF54-E37C9B14C6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92BBC4-B57D-04B2-F5C2-5BABF23562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D6514B-1C88-3C2D-E9D4-3C6974B655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165E05-6E78-006F-88D8-953C3AB79135}"/>
              </a:ext>
            </a:extLst>
          </p:cNvPr>
          <p:cNvSpPr>
            <a:spLocks noGrp="1"/>
          </p:cNvSpPr>
          <p:nvPr>
            <p:ph type="dt" sz="half" idx="10"/>
          </p:nvPr>
        </p:nvSpPr>
        <p:spPr/>
        <p:txBody>
          <a:bodyPr/>
          <a:lstStyle/>
          <a:p>
            <a:fld id="{76360C9E-66B4-47E0-B389-3B24321E9920}" type="datetimeFigureOut">
              <a:rPr lang="en-US" smtClean="0"/>
              <a:t>9/20/2026</a:t>
            </a:fld>
            <a:endParaRPr lang="en-US"/>
          </a:p>
        </p:txBody>
      </p:sp>
      <p:sp>
        <p:nvSpPr>
          <p:cNvPr id="6" name="Footer Placeholder 5">
            <a:extLst>
              <a:ext uri="{FF2B5EF4-FFF2-40B4-BE49-F238E27FC236}">
                <a16:creationId xmlns:a16="http://schemas.microsoft.com/office/drawing/2014/main" id="{F94ACBC1-BCFF-BC1D-639D-068DC8C0AC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84CAF7-39E1-BEB8-BBFF-599DB6EEE0BF}"/>
              </a:ext>
            </a:extLst>
          </p:cNvPr>
          <p:cNvSpPr>
            <a:spLocks noGrp="1"/>
          </p:cNvSpPr>
          <p:nvPr>
            <p:ph type="sldNum" sz="quarter" idx="12"/>
          </p:nvPr>
        </p:nvSpPr>
        <p:spPr/>
        <p:txBody>
          <a:bodyPr/>
          <a:lstStyle/>
          <a:p>
            <a:fld id="{7D3BB165-CE28-4BCC-8549-2B6D7D0763B6}" type="slidenum">
              <a:rPr lang="en-US" smtClean="0"/>
              <a:t>‹#›</a:t>
            </a:fld>
            <a:endParaRPr lang="en-US"/>
          </a:p>
        </p:txBody>
      </p:sp>
    </p:spTree>
    <p:extLst>
      <p:ext uri="{BB962C8B-B14F-4D97-AF65-F5344CB8AC3E}">
        <p14:creationId xmlns:p14="http://schemas.microsoft.com/office/powerpoint/2010/main" val="4289893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2D7B3-3256-7527-D071-E63E6BDC9D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C55841-37B8-6555-D26D-03AD54333D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012433-6D49-07FE-E854-1223CEF886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F22ECA-1168-EF8E-E4B0-E662A370A3BA}"/>
              </a:ext>
            </a:extLst>
          </p:cNvPr>
          <p:cNvSpPr>
            <a:spLocks noGrp="1"/>
          </p:cNvSpPr>
          <p:nvPr>
            <p:ph type="dt" sz="half" idx="10"/>
          </p:nvPr>
        </p:nvSpPr>
        <p:spPr/>
        <p:txBody>
          <a:bodyPr/>
          <a:lstStyle/>
          <a:p>
            <a:fld id="{76360C9E-66B4-47E0-B389-3B24321E9920}" type="datetimeFigureOut">
              <a:rPr lang="en-US" smtClean="0"/>
              <a:t>9/20/2026</a:t>
            </a:fld>
            <a:endParaRPr lang="en-US"/>
          </a:p>
        </p:txBody>
      </p:sp>
      <p:sp>
        <p:nvSpPr>
          <p:cNvPr id="6" name="Footer Placeholder 5">
            <a:extLst>
              <a:ext uri="{FF2B5EF4-FFF2-40B4-BE49-F238E27FC236}">
                <a16:creationId xmlns:a16="http://schemas.microsoft.com/office/drawing/2014/main" id="{D6C3E2E3-555D-D05A-76E6-5394322B0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7BF53D-0727-2DB6-5C5F-68E71D1E971A}"/>
              </a:ext>
            </a:extLst>
          </p:cNvPr>
          <p:cNvSpPr>
            <a:spLocks noGrp="1"/>
          </p:cNvSpPr>
          <p:nvPr>
            <p:ph type="sldNum" sz="quarter" idx="12"/>
          </p:nvPr>
        </p:nvSpPr>
        <p:spPr/>
        <p:txBody>
          <a:bodyPr/>
          <a:lstStyle/>
          <a:p>
            <a:fld id="{7D3BB165-CE28-4BCC-8549-2B6D7D0763B6}" type="slidenum">
              <a:rPr lang="en-US" smtClean="0"/>
              <a:t>‹#›</a:t>
            </a:fld>
            <a:endParaRPr lang="en-US"/>
          </a:p>
        </p:txBody>
      </p:sp>
    </p:spTree>
    <p:extLst>
      <p:ext uri="{BB962C8B-B14F-4D97-AF65-F5344CB8AC3E}">
        <p14:creationId xmlns:p14="http://schemas.microsoft.com/office/powerpoint/2010/main" val="267922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0F902-15EA-C589-570E-8382074CF8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19A6E6-5B04-7FA9-95B2-83AEF778F3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CBA462-8F59-747C-E81D-94085A057DAF}"/>
              </a:ext>
            </a:extLst>
          </p:cNvPr>
          <p:cNvSpPr>
            <a:spLocks noGrp="1"/>
          </p:cNvSpPr>
          <p:nvPr>
            <p:ph type="dt" sz="half" idx="10"/>
          </p:nvPr>
        </p:nvSpPr>
        <p:spPr/>
        <p:txBody>
          <a:bodyPr/>
          <a:lstStyle/>
          <a:p>
            <a:fld id="{76360C9E-66B4-47E0-B389-3B24321E9920}" type="datetimeFigureOut">
              <a:rPr lang="en-US" smtClean="0"/>
              <a:t>9/20/2026</a:t>
            </a:fld>
            <a:endParaRPr lang="en-US"/>
          </a:p>
        </p:txBody>
      </p:sp>
      <p:sp>
        <p:nvSpPr>
          <p:cNvPr id="5" name="Footer Placeholder 4">
            <a:extLst>
              <a:ext uri="{FF2B5EF4-FFF2-40B4-BE49-F238E27FC236}">
                <a16:creationId xmlns:a16="http://schemas.microsoft.com/office/drawing/2014/main" id="{B2AEACE5-06CC-E7CC-C395-7F6767D37B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857EC0-2B21-1027-16BB-6AF2D8B8B711}"/>
              </a:ext>
            </a:extLst>
          </p:cNvPr>
          <p:cNvSpPr>
            <a:spLocks noGrp="1"/>
          </p:cNvSpPr>
          <p:nvPr>
            <p:ph type="sldNum" sz="quarter" idx="12"/>
          </p:nvPr>
        </p:nvSpPr>
        <p:spPr/>
        <p:txBody>
          <a:bodyPr/>
          <a:lstStyle/>
          <a:p>
            <a:fld id="{7D3BB165-CE28-4BCC-8549-2B6D7D0763B6}" type="slidenum">
              <a:rPr lang="en-US" smtClean="0"/>
              <a:t>‹#›</a:t>
            </a:fld>
            <a:endParaRPr lang="en-US"/>
          </a:p>
        </p:txBody>
      </p:sp>
    </p:spTree>
    <p:extLst>
      <p:ext uri="{BB962C8B-B14F-4D97-AF65-F5344CB8AC3E}">
        <p14:creationId xmlns:p14="http://schemas.microsoft.com/office/powerpoint/2010/main" val="795303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5B065B-B495-CDA3-7696-CAB7D5E6EB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C702EE-8758-BB73-2D03-47A76A1E5E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7D909-2F88-B14C-B610-F041C1D66B5E}"/>
              </a:ext>
            </a:extLst>
          </p:cNvPr>
          <p:cNvSpPr>
            <a:spLocks noGrp="1"/>
          </p:cNvSpPr>
          <p:nvPr>
            <p:ph type="dt" sz="half" idx="10"/>
          </p:nvPr>
        </p:nvSpPr>
        <p:spPr/>
        <p:txBody>
          <a:bodyPr/>
          <a:lstStyle/>
          <a:p>
            <a:fld id="{76360C9E-66B4-47E0-B389-3B24321E9920}" type="datetimeFigureOut">
              <a:rPr lang="en-US" smtClean="0"/>
              <a:t>9/20/2026</a:t>
            </a:fld>
            <a:endParaRPr lang="en-US"/>
          </a:p>
        </p:txBody>
      </p:sp>
      <p:sp>
        <p:nvSpPr>
          <p:cNvPr id="5" name="Footer Placeholder 4">
            <a:extLst>
              <a:ext uri="{FF2B5EF4-FFF2-40B4-BE49-F238E27FC236}">
                <a16:creationId xmlns:a16="http://schemas.microsoft.com/office/drawing/2014/main" id="{77621685-FCD4-308D-EB39-3CAA89A41A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0259A5-6ABB-23DE-E2C4-0B8FF6719F4B}"/>
              </a:ext>
            </a:extLst>
          </p:cNvPr>
          <p:cNvSpPr>
            <a:spLocks noGrp="1"/>
          </p:cNvSpPr>
          <p:nvPr>
            <p:ph type="sldNum" sz="quarter" idx="12"/>
          </p:nvPr>
        </p:nvSpPr>
        <p:spPr/>
        <p:txBody>
          <a:bodyPr/>
          <a:lstStyle/>
          <a:p>
            <a:fld id="{7D3BB165-CE28-4BCC-8549-2B6D7D0763B6}" type="slidenum">
              <a:rPr lang="en-US" smtClean="0"/>
              <a:t>‹#›</a:t>
            </a:fld>
            <a:endParaRPr lang="en-US"/>
          </a:p>
        </p:txBody>
      </p:sp>
    </p:spTree>
    <p:extLst>
      <p:ext uri="{BB962C8B-B14F-4D97-AF65-F5344CB8AC3E}">
        <p14:creationId xmlns:p14="http://schemas.microsoft.com/office/powerpoint/2010/main" val="2481764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C37E90-23E4-EB16-38A4-3C5B30ABE8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A63085-1F53-725E-9F2C-1C4B9FC133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AF73D6-F215-2385-A7F5-D703018244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360C9E-66B4-47E0-B389-3B24321E9920}" type="datetimeFigureOut">
              <a:rPr lang="en-US" smtClean="0"/>
              <a:t>9/20/2026</a:t>
            </a:fld>
            <a:endParaRPr lang="en-US"/>
          </a:p>
        </p:txBody>
      </p:sp>
      <p:sp>
        <p:nvSpPr>
          <p:cNvPr id="5" name="Footer Placeholder 4">
            <a:extLst>
              <a:ext uri="{FF2B5EF4-FFF2-40B4-BE49-F238E27FC236}">
                <a16:creationId xmlns:a16="http://schemas.microsoft.com/office/drawing/2014/main" id="{DC9983F7-6B51-67DE-27A2-A09B08AF02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F4394E1-A943-D2AD-B2F3-E76239CCEA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3BB165-CE28-4BCC-8549-2B6D7D0763B6}" type="slidenum">
              <a:rPr lang="en-US" smtClean="0"/>
              <a:t>‹#›</a:t>
            </a:fld>
            <a:endParaRPr lang="en-US"/>
          </a:p>
        </p:txBody>
      </p:sp>
    </p:spTree>
    <p:extLst>
      <p:ext uri="{BB962C8B-B14F-4D97-AF65-F5344CB8AC3E}">
        <p14:creationId xmlns:p14="http://schemas.microsoft.com/office/powerpoint/2010/main" val="1591776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5" name="Rectangle 4"/>
          <p:cNvSpPr/>
          <p:nvPr/>
        </p:nvSpPr>
        <p:spPr>
          <a:xfrm>
            <a:off x="0" y="5257800"/>
            <a:ext cx="12191695" cy="1527048"/>
          </a:xfrm>
          <a:prstGeom prst="rect">
            <a:avLst/>
          </a:prstGeom>
          <a:solidFill>
            <a:srgbClr val="EE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4D9A6105-1F17-9435-6DDD-C4D6EB24BC42}"/>
              </a:ext>
            </a:extLst>
          </p:cNvPr>
          <p:cNvSpPr>
            <a:spLocks noGrp="1"/>
          </p:cNvSpPr>
          <p:nvPr>
            <p:ph type="ctrTitle"/>
          </p:nvPr>
        </p:nvSpPr>
        <p:spPr>
          <a:xfrm>
            <a:off x="1524000" y="1503363"/>
            <a:ext cx="9144000" cy="2387600"/>
          </a:xfrm>
        </p:spPr>
        <p:txBody>
          <a:bodyPr wrap="square">
            <a:noAutofit/>
          </a:bodyPr>
          <a:lstStyle/>
          <a:p>
            <a:r>
              <a:rPr lang="en-US" sz="4000" b="1" dirty="0">
                <a:solidFill>
                  <a:srgbClr val="315D4A"/>
                </a:solidFill>
                <a:latin typeface="Georgia"/>
              </a:rPr>
              <a:t>From fiber-length distribution to yarn performance: end-use evaluation of </a:t>
            </a:r>
            <a:r>
              <a:rPr lang="en-US" sz="4000" b="1" i="1" dirty="0">
                <a:solidFill>
                  <a:srgbClr val="315D4A"/>
                </a:solidFill>
                <a:latin typeface="Georgia"/>
              </a:rPr>
              <a:t>qFL-Chr.25 </a:t>
            </a:r>
            <a:r>
              <a:rPr lang="en-US" sz="4000" b="1" dirty="0">
                <a:solidFill>
                  <a:srgbClr val="315D4A"/>
                </a:solidFill>
                <a:latin typeface="Georgia"/>
              </a:rPr>
              <a:t>in cotton near-isogenic introgression lines</a:t>
            </a:r>
          </a:p>
        </p:txBody>
      </p:sp>
      <p:sp>
        <p:nvSpPr>
          <p:cNvPr id="3" name="Subtitle 2">
            <a:extLst>
              <a:ext uri="{FF2B5EF4-FFF2-40B4-BE49-F238E27FC236}">
                <a16:creationId xmlns:a16="http://schemas.microsoft.com/office/drawing/2014/main" id="{603171F1-DD1D-A493-62C4-B3DC5E07626F}"/>
              </a:ext>
            </a:extLst>
          </p:cNvPr>
          <p:cNvSpPr>
            <a:spLocks noGrp="1"/>
          </p:cNvSpPr>
          <p:nvPr>
            <p:ph type="subTitle" idx="1"/>
          </p:nvPr>
        </p:nvSpPr>
        <p:spPr>
          <a:xfrm>
            <a:off x="1524000" y="5402263"/>
            <a:ext cx="9144000" cy="1084262"/>
          </a:xfrm>
        </p:spPr>
        <p:txBody>
          <a:bodyPr wrap="square">
            <a:normAutofit/>
          </a:bodyPr>
          <a:lstStyle/>
          <a:p>
            <a:r>
              <a:rPr lang="en-US" b="1" dirty="0">
                <a:solidFill>
                  <a:srgbClr val="315D4A"/>
                </a:solidFill>
                <a:latin typeface="Georgia"/>
              </a:rPr>
              <a:t>End Use Evaluation Manuscript Update</a:t>
            </a:r>
          </a:p>
          <a:p>
            <a:r>
              <a:rPr lang="en-US" b="1" dirty="0">
                <a:solidFill>
                  <a:srgbClr val="315D4A"/>
                </a:solidFill>
                <a:latin typeface="Georgia"/>
              </a:rPr>
              <a:t>Sep 21, 2026</a:t>
            </a:r>
          </a:p>
        </p:txBody>
      </p:sp>
      <p:sp>
        <p:nvSpPr>
          <p:cNvPr id="4" name="Rectangle 3"/>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550532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F989F-CD95-FEAC-DE50-3A1E459EA3A9}"/>
              </a:ext>
            </a:extLst>
          </p:cNvPr>
          <p:cNvSpPr>
            <a:spLocks noGrp="1"/>
          </p:cNvSpPr>
          <p:nvPr>
            <p:ph type="title"/>
          </p:nvPr>
        </p:nvSpPr>
        <p:spPr/>
        <p:txBody>
          <a:bodyPr wrap="square">
            <a:normAutofit/>
          </a:bodyPr>
          <a:lstStyle/>
          <a:p>
            <a:r>
              <a:rPr lang="en-US" sz="3200" b="1" dirty="0">
                <a:solidFill>
                  <a:srgbClr val="315D4A"/>
                </a:solidFill>
                <a:latin typeface="Georgia"/>
              </a:rPr>
              <a:t>Study Objective/ Manuscript Questions</a:t>
            </a:r>
          </a:p>
        </p:txBody>
      </p:sp>
      <p:sp>
        <p:nvSpPr>
          <p:cNvPr id="3" name="Content Placeholder 2">
            <a:extLst>
              <a:ext uri="{FF2B5EF4-FFF2-40B4-BE49-F238E27FC236}">
                <a16:creationId xmlns:a16="http://schemas.microsoft.com/office/drawing/2014/main" id="{13B13CB4-8BE5-9B8B-377B-961CCA79F817}"/>
              </a:ext>
            </a:extLst>
          </p:cNvPr>
          <p:cNvSpPr>
            <a:spLocks noGrp="1"/>
          </p:cNvSpPr>
          <p:nvPr>
            <p:ph idx="1"/>
          </p:nvPr>
        </p:nvSpPr>
        <p:spPr/>
        <p:txBody>
          <a:bodyPr wrap="square">
            <a:normAutofit/>
          </a:bodyPr>
          <a:lstStyle/>
          <a:p>
            <a:pPr lvl="0"/>
            <a:r>
              <a:rPr lang="en-US" sz="2400" dirty="0">
                <a:solidFill>
                  <a:srgbClr val="2B302D"/>
                </a:solidFill>
                <a:latin typeface="Aptos"/>
              </a:rPr>
              <a:t>Does </a:t>
            </a:r>
            <a:r>
              <a:rPr lang="en-US" sz="2400" i="1" dirty="0">
                <a:solidFill>
                  <a:srgbClr val="2B302D"/>
                </a:solidFill>
                <a:latin typeface="Aptos"/>
              </a:rPr>
              <a:t>qFL-Chr.25 </a:t>
            </a:r>
            <a:r>
              <a:rPr lang="en-US" sz="2400" dirty="0">
                <a:solidFill>
                  <a:srgbClr val="2B302D"/>
                </a:solidFill>
                <a:latin typeface="Aptos"/>
              </a:rPr>
              <a:t>improve end-use performance, not just fiber-length metrics? </a:t>
            </a:r>
          </a:p>
          <a:p>
            <a:pPr lvl="0"/>
            <a:r>
              <a:rPr lang="en-US" sz="2400" dirty="0">
                <a:solidFill>
                  <a:srgbClr val="2B302D"/>
                </a:solidFill>
                <a:latin typeface="Aptos"/>
              </a:rPr>
              <a:t>Does the upper-tail fiber phenotype persist through processing? </a:t>
            </a:r>
          </a:p>
          <a:p>
            <a:pPr lvl="0"/>
            <a:r>
              <a:rPr lang="en-US" sz="2400" dirty="0">
                <a:solidFill>
                  <a:srgbClr val="2B302D"/>
                </a:solidFill>
                <a:latin typeface="Aptos"/>
              </a:rPr>
              <a:t>Which fiber measurements best predict yarn performance? </a:t>
            </a:r>
          </a:p>
          <a:p>
            <a:pPr lvl="0"/>
            <a:r>
              <a:rPr lang="en-US" sz="2400" dirty="0">
                <a:solidFill>
                  <a:srgbClr val="2B302D"/>
                </a:solidFill>
                <a:latin typeface="Aptos"/>
              </a:rPr>
              <a:t>Are responses consistent across NIIL pairs?</a:t>
            </a:r>
          </a:p>
          <a:p>
            <a:pPr marL="0" lvl="0" indent="0">
              <a:buNone/>
            </a:pPr>
            <a:endParaRPr lang="en-US" sz="4400" dirty="0"/>
          </a:p>
          <a:p>
            <a:pPr marL="0" indent="0">
              <a:buNone/>
            </a:pPr>
            <a:r>
              <a:rPr lang="en-US" sz="2400" b="1" dirty="0">
                <a:solidFill>
                  <a:srgbClr val="2B302D"/>
                </a:solidFill>
                <a:latin typeface="Aptos"/>
              </a:rPr>
              <a:t>Note</a:t>
            </a:r>
            <a:r>
              <a:rPr lang="en-US" sz="2400" i="1" dirty="0">
                <a:solidFill>
                  <a:srgbClr val="2B302D"/>
                </a:solidFill>
                <a:latin typeface="Aptos"/>
              </a:rPr>
              <a:t>: qFL-Chr.25 alters the upper portion of the fiber-length distribution, and this phenotype appears to persist through processing and relate to yarn tenacity, although yarn response varies among sister-line pairs.</a:t>
            </a:r>
          </a:p>
        </p:txBody>
      </p:sp>
      <p:sp>
        <p:nvSpPr>
          <p:cNvPr id="4" name="Rectangle 3"/>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289304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BDC45-C188-A51A-0A74-3525E4FF2B2D}"/>
              </a:ext>
            </a:extLst>
          </p:cNvPr>
          <p:cNvSpPr>
            <a:spLocks noGrp="1"/>
          </p:cNvSpPr>
          <p:nvPr>
            <p:ph type="title"/>
          </p:nvPr>
        </p:nvSpPr>
        <p:spPr>
          <a:xfrm>
            <a:off x="219456" y="365125"/>
            <a:ext cx="11832336" cy="1325563"/>
          </a:xfrm>
        </p:spPr>
        <p:txBody>
          <a:bodyPr wrap="square">
            <a:normAutofit/>
          </a:bodyPr>
          <a:lstStyle/>
          <a:p>
            <a:r>
              <a:rPr lang="en-US" sz="3200" b="1" dirty="0">
                <a:solidFill>
                  <a:srgbClr val="315D4A"/>
                </a:solidFill>
                <a:latin typeface="Georgia"/>
              </a:rPr>
              <a:t>Experimental Design/Matched Fiber-to-Yarn Workflow</a:t>
            </a:r>
          </a:p>
        </p:txBody>
      </p:sp>
      <p:sp>
        <p:nvSpPr>
          <p:cNvPr id="3" name="Content Placeholder 2">
            <a:extLst>
              <a:ext uri="{FF2B5EF4-FFF2-40B4-BE49-F238E27FC236}">
                <a16:creationId xmlns:a16="http://schemas.microsoft.com/office/drawing/2014/main" id="{BE540736-9A2D-F90A-983F-4893AFDDC553}"/>
              </a:ext>
            </a:extLst>
          </p:cNvPr>
          <p:cNvSpPr>
            <a:spLocks noGrp="1"/>
          </p:cNvSpPr>
          <p:nvPr>
            <p:ph idx="1"/>
          </p:nvPr>
        </p:nvSpPr>
        <p:spPr/>
        <p:txBody>
          <a:bodyPr wrap="square">
            <a:normAutofit lnSpcReduction="10000"/>
          </a:bodyPr>
          <a:lstStyle/>
          <a:p>
            <a:pPr marL="0" indent="0">
              <a:buNone/>
            </a:pPr>
            <a:r>
              <a:rPr lang="en-US" dirty="0">
                <a:solidFill>
                  <a:srgbClr val="2B302D"/>
                </a:solidFill>
                <a:latin typeface="Aptos"/>
              </a:rPr>
              <a:t>2022 field plot → machine harvest → </a:t>
            </a:r>
            <a:r>
              <a:rPr lang="en-US" dirty="0" err="1">
                <a:solidFill>
                  <a:srgbClr val="2B302D"/>
                </a:solidFill>
                <a:latin typeface="Aptos"/>
              </a:rPr>
              <a:t>microgin</a:t>
            </a:r>
            <a:r>
              <a:rPr lang="en-US" dirty="0">
                <a:solidFill>
                  <a:srgbClr val="2B302D"/>
                </a:solidFill>
                <a:latin typeface="Aptos"/>
              </a:rPr>
              <a:t> → common lint lot → HVI / AFIS / </a:t>
            </a:r>
            <a:r>
              <a:rPr lang="en-US" dirty="0" err="1">
                <a:solidFill>
                  <a:srgbClr val="2B302D"/>
                </a:solidFill>
                <a:latin typeface="Aptos"/>
              </a:rPr>
              <a:t>fibrogram</a:t>
            </a:r>
            <a:r>
              <a:rPr lang="en-US" dirty="0">
                <a:solidFill>
                  <a:srgbClr val="2B302D"/>
                </a:solidFill>
                <a:latin typeface="Aptos"/>
              </a:rPr>
              <a:t> → </a:t>
            </a:r>
            <a:r>
              <a:rPr lang="en-US" dirty="0" err="1">
                <a:solidFill>
                  <a:srgbClr val="2B302D"/>
                </a:solidFill>
                <a:latin typeface="Aptos"/>
              </a:rPr>
              <a:t>MiniSpin</a:t>
            </a:r>
            <a:r>
              <a:rPr lang="en-US" dirty="0">
                <a:solidFill>
                  <a:srgbClr val="2B302D"/>
                </a:solidFill>
                <a:latin typeface="Aptos"/>
              </a:rPr>
              <a:t> processing → yarn testing</a:t>
            </a:r>
          </a:p>
          <a:p>
            <a:pPr marL="0" indent="0">
              <a:buNone/>
            </a:pPr>
            <a:endParaRPr lang="en-US" dirty="0">
              <a:solidFill>
                <a:srgbClr val="2B302D"/>
              </a:solidFill>
              <a:latin typeface="Aptos"/>
            </a:endParaRPr>
          </a:p>
          <a:p>
            <a:r>
              <a:rPr lang="en-US" dirty="0">
                <a:solidFill>
                  <a:srgbClr val="2B302D"/>
                </a:solidFill>
                <a:latin typeface="Aptos"/>
              </a:rPr>
              <a:t>92 total samples </a:t>
            </a:r>
          </a:p>
          <a:p>
            <a:r>
              <a:rPr lang="en-US" dirty="0">
                <a:solidFill>
                  <a:srgbClr val="2B302D"/>
                </a:solidFill>
                <a:latin typeface="Aptos"/>
              </a:rPr>
              <a:t>64 formal NIIL observations (16 genotypes x 4 field reps)</a:t>
            </a:r>
          </a:p>
          <a:p>
            <a:r>
              <a:rPr lang="en-US" dirty="0">
                <a:solidFill>
                  <a:srgbClr val="2B302D"/>
                </a:solidFill>
                <a:latin typeface="Aptos"/>
              </a:rPr>
              <a:t>16 NIIL genotypes </a:t>
            </a:r>
          </a:p>
          <a:p>
            <a:r>
              <a:rPr lang="en-US" dirty="0">
                <a:solidFill>
                  <a:srgbClr val="2B302D"/>
                </a:solidFill>
                <a:latin typeface="Aptos"/>
              </a:rPr>
              <a:t>8 sister-line pairs </a:t>
            </a:r>
          </a:p>
          <a:p>
            <a:r>
              <a:rPr lang="en-US" dirty="0">
                <a:solidFill>
                  <a:srgbClr val="2B302D"/>
                </a:solidFill>
                <a:latin typeface="Aptos"/>
              </a:rPr>
              <a:t>4 genetic backgrounds </a:t>
            </a:r>
          </a:p>
          <a:p>
            <a:r>
              <a:rPr lang="en-US" dirty="0">
                <a:solidFill>
                  <a:srgbClr val="2B302D"/>
                </a:solidFill>
                <a:latin typeface="Aptos"/>
              </a:rPr>
              <a:t>same lint lot linked to fiber and yarn measurements</a:t>
            </a:r>
          </a:p>
          <a:p>
            <a:pPr marL="0" indent="0">
              <a:buNone/>
            </a:pPr>
            <a:endParaRPr lang="en-US" dirty="0"/>
          </a:p>
        </p:txBody>
      </p:sp>
      <p:sp>
        <p:nvSpPr>
          <p:cNvPr id="4" name="Rectangle 3"/>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745235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94FD263-E8F8-7671-9A63-F1F7718F46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0250" y="96044"/>
            <a:ext cx="8191500" cy="5734050"/>
          </a:xfrm>
          <a:prstGeom prst="rect">
            <a:avLst/>
          </a:prstGeom>
        </p:spPr>
      </p:pic>
      <p:sp>
        <p:nvSpPr>
          <p:cNvPr id="7" name="TextBox 6">
            <a:extLst>
              <a:ext uri="{FF2B5EF4-FFF2-40B4-BE49-F238E27FC236}">
                <a16:creationId xmlns:a16="http://schemas.microsoft.com/office/drawing/2014/main" id="{54540407-C522-4E99-72E5-CB47C8C5686A}"/>
              </a:ext>
            </a:extLst>
          </p:cNvPr>
          <p:cNvSpPr txBox="1"/>
          <p:nvPr/>
        </p:nvSpPr>
        <p:spPr>
          <a:xfrm>
            <a:off x="140208" y="5830094"/>
            <a:ext cx="12051792" cy="830997"/>
          </a:xfrm>
          <a:prstGeom prst="rect">
            <a:avLst/>
          </a:prstGeom>
          <a:solidFill>
            <a:srgbClr val="EFF5EE"/>
          </a:solidFill>
          <a:ln w="15240">
            <a:solidFill>
              <a:srgbClr val="315D4A"/>
            </a:solidFill>
          </a:ln>
        </p:spPr>
        <p:txBody>
          <a:bodyPr wrap="square" lIns="128016" tIns="54864" bIns="36576">
            <a:spAutoFit/>
          </a:bodyPr>
          <a:lstStyle/>
          <a:p>
            <a:pPr algn="l">
              <a:spcBef>
                <a:spcPts val="0"/>
              </a:spcBef>
              <a:spcAft>
                <a:spcPts val="0"/>
              </a:spcAft>
            </a:pPr>
            <a:r>
              <a:rPr sz="1600" b="1" dirty="0">
                <a:solidFill>
                  <a:srgbClr val="315D4A"/>
                </a:solidFill>
                <a:latin typeface="Aptos"/>
              </a:rPr>
              <a:t>Take away: </a:t>
            </a:r>
            <a:r>
              <a:rPr sz="1600" b="0" dirty="0">
                <a:solidFill>
                  <a:srgbClr val="2B302D"/>
                </a:solidFill>
                <a:latin typeface="Aptos"/>
              </a:rPr>
              <a:t>Processing substantially altered AFIS fiber properties: upper-tail length declined through carding and recovered in sliver, short-fiber content increased, and nep count dropped sharply after carding. This figure summarizes the overall processing effect across samples rather than a QTL-specific response.</a:t>
            </a:r>
          </a:p>
        </p:txBody>
      </p:sp>
      <p:sp>
        <p:nvSpPr>
          <p:cNvPr id="8" name="Rectangle 7"/>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171813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6C04FA-897D-8057-175B-27C8239359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2879" y="282575"/>
            <a:ext cx="7606242" cy="5704682"/>
          </a:xfrm>
          <a:prstGeom prst="rect">
            <a:avLst/>
          </a:prstGeom>
        </p:spPr>
      </p:pic>
      <p:sp>
        <p:nvSpPr>
          <p:cNvPr id="7" name="TextBox 6">
            <a:extLst>
              <a:ext uri="{FF2B5EF4-FFF2-40B4-BE49-F238E27FC236}">
                <a16:creationId xmlns:a16="http://schemas.microsoft.com/office/drawing/2014/main" id="{F325BA21-A56B-1E52-6DFC-DCA51C1ED9ED}"/>
              </a:ext>
            </a:extLst>
          </p:cNvPr>
          <p:cNvSpPr txBox="1"/>
          <p:nvPr/>
        </p:nvSpPr>
        <p:spPr>
          <a:xfrm>
            <a:off x="140208" y="5830094"/>
            <a:ext cx="12051792" cy="830997"/>
          </a:xfrm>
          <a:prstGeom prst="rect">
            <a:avLst/>
          </a:prstGeom>
          <a:solidFill>
            <a:srgbClr val="EFF5EE"/>
          </a:solidFill>
          <a:ln w="15240">
            <a:solidFill>
              <a:srgbClr val="315D4A"/>
            </a:solidFill>
          </a:ln>
        </p:spPr>
        <p:txBody>
          <a:bodyPr wrap="square" lIns="128016" tIns="54864" bIns="36576">
            <a:spAutoFit/>
          </a:bodyPr>
          <a:lstStyle/>
          <a:p>
            <a:pPr algn="l">
              <a:spcBef>
                <a:spcPts val="0"/>
              </a:spcBef>
              <a:spcAft>
                <a:spcPts val="0"/>
              </a:spcAft>
            </a:pPr>
            <a:r>
              <a:rPr sz="1600" b="1" dirty="0">
                <a:solidFill>
                  <a:srgbClr val="315D4A"/>
                </a:solidFill>
                <a:latin typeface="Aptos"/>
              </a:rPr>
              <a:t>Take away: </a:t>
            </a:r>
            <a:r>
              <a:rPr sz="1600" b="0" i="1" dirty="0">
                <a:solidFill>
                  <a:srgbClr val="2B302D"/>
                </a:solidFill>
                <a:latin typeface="Aptos"/>
              </a:rPr>
              <a:t>qFL-Chr.25</a:t>
            </a:r>
            <a:r>
              <a:rPr sz="1600" b="0" dirty="0">
                <a:solidFill>
                  <a:srgbClr val="2B302D"/>
                </a:solidFill>
                <a:latin typeface="Aptos"/>
              </a:rPr>
              <a:t>-positive lines maintained higher L5 and UQL(w) across processing stages, indicating that the upper-tail length phenotype remained evident through processing. QTL+ lines also showed higher SFC(n), while nep-count differences diminished after carding; Nep count was the trait with the clearest QTL × stage response.</a:t>
            </a:r>
          </a:p>
        </p:txBody>
      </p:sp>
      <p:sp>
        <p:nvSpPr>
          <p:cNvPr id="8" name="Rectangle 7"/>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229427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C8E9FA9-1405-423F-E2D3-80B9692B38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0158" y="206374"/>
            <a:ext cx="8871683" cy="5766595"/>
          </a:xfrm>
          <a:prstGeom prst="rect">
            <a:avLst/>
          </a:prstGeom>
        </p:spPr>
      </p:pic>
      <p:sp>
        <p:nvSpPr>
          <p:cNvPr id="9" name="TextBox 8">
            <a:extLst>
              <a:ext uri="{FF2B5EF4-FFF2-40B4-BE49-F238E27FC236}">
                <a16:creationId xmlns:a16="http://schemas.microsoft.com/office/drawing/2014/main" id="{712BF49F-2818-E82C-69FC-29EB4388E855}"/>
              </a:ext>
            </a:extLst>
          </p:cNvPr>
          <p:cNvSpPr txBox="1"/>
          <p:nvPr/>
        </p:nvSpPr>
        <p:spPr>
          <a:xfrm>
            <a:off x="140208" y="5923058"/>
            <a:ext cx="12051792" cy="830997"/>
          </a:xfrm>
          <a:prstGeom prst="rect">
            <a:avLst/>
          </a:prstGeom>
          <a:solidFill>
            <a:srgbClr val="EFF5EE"/>
          </a:solidFill>
          <a:ln w="15240">
            <a:solidFill>
              <a:srgbClr val="315D4A"/>
            </a:solidFill>
          </a:ln>
        </p:spPr>
        <p:txBody>
          <a:bodyPr wrap="square" lIns="128016" tIns="54864" bIns="36576">
            <a:spAutoFit/>
          </a:bodyPr>
          <a:lstStyle/>
          <a:p>
            <a:pPr algn="l">
              <a:spcBef>
                <a:spcPts val="0"/>
              </a:spcBef>
              <a:spcAft>
                <a:spcPts val="0"/>
              </a:spcAft>
            </a:pPr>
            <a:r>
              <a:rPr sz="1600" b="1" dirty="0">
                <a:solidFill>
                  <a:srgbClr val="315D4A"/>
                </a:solidFill>
                <a:latin typeface="Aptos"/>
              </a:rPr>
              <a:t>Take away</a:t>
            </a:r>
            <a:r>
              <a:rPr lang="en-US" sz="1600" b="1" dirty="0">
                <a:solidFill>
                  <a:srgbClr val="315D4A"/>
                </a:solidFill>
                <a:latin typeface="Aptos"/>
              </a:rPr>
              <a:t>: </a:t>
            </a:r>
            <a:r>
              <a:rPr lang="en-US" sz="1600" b="0" i="1" dirty="0">
                <a:solidFill>
                  <a:srgbClr val="2B302D"/>
                </a:solidFill>
                <a:latin typeface="Aptos"/>
              </a:rPr>
              <a:t>qFL-Chr.25 </a:t>
            </a:r>
            <a:r>
              <a:rPr lang="en-US" sz="1600" b="0" dirty="0">
                <a:solidFill>
                  <a:srgbClr val="2B302D"/>
                </a:solidFill>
                <a:latin typeface="Aptos"/>
              </a:rPr>
              <a:t>showed its clearest overall yarn response in single-end tenacity, with smaller or inconsistent effects on the other primary yarn traits. However, no trait remained significant after FDR correction, indicating that the QTL’s end-use effect is modest </a:t>
            </a:r>
            <a:r>
              <a:rPr lang="en-US" sz="1600" dirty="0">
                <a:solidFill>
                  <a:srgbClr val="2B302D"/>
                </a:solidFill>
                <a:latin typeface="Aptos"/>
              </a:rPr>
              <a:t>in the overall NIIL analysis </a:t>
            </a:r>
            <a:r>
              <a:rPr lang="en-US" sz="1600" b="0" dirty="0">
                <a:solidFill>
                  <a:srgbClr val="2B302D"/>
                </a:solidFill>
                <a:latin typeface="Aptos"/>
              </a:rPr>
              <a:t>and likely stronger in specific NIIL pairs than as a uniform response across backgrounds.</a:t>
            </a:r>
            <a:endParaRPr sz="1600" b="0" dirty="0">
              <a:solidFill>
                <a:srgbClr val="2B302D"/>
              </a:solidFill>
              <a:latin typeface="Aptos"/>
            </a:endParaRPr>
          </a:p>
        </p:txBody>
      </p:sp>
      <p:sp>
        <p:nvSpPr>
          <p:cNvPr id="10" name="Rectangle 9"/>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7145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07611FB3-C05E-A73C-5772-9F6C9EE5BB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3453" y="225425"/>
            <a:ext cx="11685093" cy="5213350"/>
          </a:xfrm>
          <a:prstGeom prst="rect">
            <a:avLst/>
          </a:prstGeom>
        </p:spPr>
      </p:pic>
      <p:sp>
        <p:nvSpPr>
          <p:cNvPr id="11" name="TextBox 10">
            <a:extLst>
              <a:ext uri="{FF2B5EF4-FFF2-40B4-BE49-F238E27FC236}">
                <a16:creationId xmlns:a16="http://schemas.microsoft.com/office/drawing/2014/main" id="{C5D827E7-14B8-AE83-E899-FA82CA969A3D}"/>
              </a:ext>
            </a:extLst>
          </p:cNvPr>
          <p:cNvSpPr txBox="1"/>
          <p:nvPr/>
        </p:nvSpPr>
        <p:spPr>
          <a:xfrm>
            <a:off x="139903" y="5573202"/>
            <a:ext cx="12051792" cy="1077218"/>
          </a:xfrm>
          <a:prstGeom prst="rect">
            <a:avLst/>
          </a:prstGeom>
          <a:solidFill>
            <a:srgbClr val="EFF5EE"/>
          </a:solidFill>
          <a:ln w="15240">
            <a:solidFill>
              <a:srgbClr val="315D4A"/>
            </a:solidFill>
          </a:ln>
        </p:spPr>
        <p:txBody>
          <a:bodyPr wrap="square" lIns="128016" tIns="54864" bIns="36576">
            <a:spAutoFit/>
          </a:bodyPr>
          <a:lstStyle/>
          <a:p>
            <a:pPr algn="l">
              <a:spcBef>
                <a:spcPts val="0"/>
              </a:spcBef>
              <a:spcAft>
                <a:spcPts val="0"/>
              </a:spcAft>
            </a:pPr>
            <a:r>
              <a:rPr sz="1600" b="1" dirty="0">
                <a:solidFill>
                  <a:srgbClr val="315D4A"/>
                </a:solidFill>
                <a:latin typeface="Aptos"/>
              </a:rPr>
              <a:t>Take away: </a:t>
            </a:r>
            <a:r>
              <a:rPr lang="en-US" sz="1600" b="0" dirty="0">
                <a:solidFill>
                  <a:srgbClr val="2B302D"/>
                </a:solidFill>
                <a:latin typeface="Aptos"/>
              </a:rPr>
              <a:t>Yarn-tenacity responses were not uniform across sister-line pairs. DP213 showed the strongest positive qFL-Chr.25-associated response, while other pairs showed smaller or opposite changes. These patterns show heterogeneous pair-level responses, but the formal background × QTL interaction was not significant; therefore, the results support pair-specific differences rather than a general background-dependent QTL effect.</a:t>
            </a:r>
            <a:endParaRPr sz="1600" b="0" dirty="0">
              <a:solidFill>
                <a:srgbClr val="2B302D"/>
              </a:solidFill>
              <a:latin typeface="Aptos"/>
            </a:endParaRPr>
          </a:p>
        </p:txBody>
      </p:sp>
      <p:sp>
        <p:nvSpPr>
          <p:cNvPr id="12" name="Rectangle 11"/>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863767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00664E-402F-3752-CAE2-08EB6F0CB1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8979" y="50605"/>
            <a:ext cx="7893736" cy="5788740"/>
          </a:xfrm>
          <a:prstGeom prst="rect">
            <a:avLst/>
          </a:prstGeom>
        </p:spPr>
      </p:pic>
      <p:sp>
        <p:nvSpPr>
          <p:cNvPr id="7" name="TextBox 6">
            <a:extLst>
              <a:ext uri="{FF2B5EF4-FFF2-40B4-BE49-F238E27FC236}">
                <a16:creationId xmlns:a16="http://schemas.microsoft.com/office/drawing/2014/main" id="{706469EB-BFAB-F1C9-3837-94EF036B7D52}"/>
              </a:ext>
            </a:extLst>
          </p:cNvPr>
          <p:cNvSpPr txBox="1"/>
          <p:nvPr/>
        </p:nvSpPr>
        <p:spPr>
          <a:xfrm>
            <a:off x="140208" y="5900198"/>
            <a:ext cx="12051792" cy="830997"/>
          </a:xfrm>
          <a:prstGeom prst="rect">
            <a:avLst/>
          </a:prstGeom>
          <a:solidFill>
            <a:srgbClr val="EFF5EE"/>
          </a:solidFill>
          <a:ln w="15240">
            <a:solidFill>
              <a:srgbClr val="315D4A"/>
            </a:solidFill>
          </a:ln>
        </p:spPr>
        <p:txBody>
          <a:bodyPr wrap="square" lIns="128016" tIns="54864" bIns="36576">
            <a:spAutoFit/>
          </a:bodyPr>
          <a:lstStyle/>
          <a:p>
            <a:pPr algn="l">
              <a:spcBef>
                <a:spcPts val="0"/>
              </a:spcBef>
              <a:spcAft>
                <a:spcPts val="0"/>
              </a:spcAft>
            </a:pPr>
            <a:r>
              <a:rPr sz="1600" b="1" dirty="0">
                <a:solidFill>
                  <a:srgbClr val="315D4A"/>
                </a:solidFill>
                <a:latin typeface="Aptos"/>
              </a:rPr>
              <a:t>Take away: </a:t>
            </a:r>
            <a:r>
              <a:rPr lang="en-US" sz="1600" b="0" dirty="0">
                <a:solidFill>
                  <a:srgbClr val="2B302D"/>
                </a:solidFill>
                <a:latin typeface="Aptos"/>
              </a:rPr>
              <a:t>Upper-tail fiber-length measurements from HVI, AFIS, and </a:t>
            </a:r>
            <a:r>
              <a:rPr lang="en-US" sz="1600" b="0" dirty="0" err="1">
                <a:solidFill>
                  <a:srgbClr val="2B302D"/>
                </a:solidFill>
                <a:latin typeface="Aptos"/>
              </a:rPr>
              <a:t>fibrogram</a:t>
            </a:r>
            <a:r>
              <a:rPr lang="en-US" sz="1600" b="0" dirty="0">
                <a:solidFill>
                  <a:srgbClr val="2B302D"/>
                </a:solidFill>
                <a:latin typeface="Aptos"/>
              </a:rPr>
              <a:t> systems were consistently and positively associated with yarn tenacity across the 64 NIIL plot-level observations. The repeated signal across independent measurement platforms strengthens the evidence that longer upper-tail fibers are closely linked to improved yarn strength in this material.</a:t>
            </a:r>
            <a:endParaRPr sz="1600" b="0" dirty="0">
              <a:solidFill>
                <a:srgbClr val="2B302D"/>
              </a:solidFill>
              <a:latin typeface="Aptos"/>
            </a:endParaRPr>
          </a:p>
        </p:txBody>
      </p:sp>
      <p:sp>
        <p:nvSpPr>
          <p:cNvPr id="8" name="Rectangle 7"/>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119018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0F15202-81D0-8D21-B5B2-DF99CDC1415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8313" y="149225"/>
            <a:ext cx="9075068" cy="5747544"/>
          </a:xfrm>
          <a:prstGeom prst="rect">
            <a:avLst/>
          </a:prstGeom>
        </p:spPr>
      </p:pic>
      <p:sp>
        <p:nvSpPr>
          <p:cNvPr id="7" name="TextBox 6">
            <a:extLst>
              <a:ext uri="{FF2B5EF4-FFF2-40B4-BE49-F238E27FC236}">
                <a16:creationId xmlns:a16="http://schemas.microsoft.com/office/drawing/2014/main" id="{5EE6663E-8626-FBAF-88E1-5027C4BC8C1F}"/>
              </a:ext>
            </a:extLst>
          </p:cNvPr>
          <p:cNvSpPr txBox="1"/>
          <p:nvPr/>
        </p:nvSpPr>
        <p:spPr>
          <a:xfrm>
            <a:off x="140208" y="5896769"/>
            <a:ext cx="12051792" cy="830997"/>
          </a:xfrm>
          <a:prstGeom prst="rect">
            <a:avLst/>
          </a:prstGeom>
          <a:solidFill>
            <a:srgbClr val="EFF5EE"/>
          </a:solidFill>
          <a:ln w="15240">
            <a:solidFill>
              <a:srgbClr val="315D4A"/>
            </a:solidFill>
          </a:ln>
        </p:spPr>
        <p:txBody>
          <a:bodyPr wrap="square" lIns="128016" tIns="54864" bIns="36576">
            <a:spAutoFit/>
          </a:bodyPr>
          <a:lstStyle/>
          <a:p>
            <a:pPr algn="l">
              <a:spcBef>
                <a:spcPts val="0"/>
              </a:spcBef>
              <a:spcAft>
                <a:spcPts val="0"/>
              </a:spcAft>
            </a:pPr>
            <a:r>
              <a:rPr sz="1600" b="1" dirty="0">
                <a:solidFill>
                  <a:srgbClr val="315D4A"/>
                </a:solidFill>
                <a:latin typeface="Aptos"/>
              </a:rPr>
              <a:t>Take away: </a:t>
            </a:r>
            <a:r>
              <a:rPr lang="en-US" sz="1600" b="0" dirty="0">
                <a:solidFill>
                  <a:srgbClr val="2B302D"/>
                </a:solidFill>
                <a:latin typeface="Aptos"/>
              </a:rPr>
              <a:t>Fiber-length traits showed the strongest and most consistent relationships with yarn strength, particularly single-end tenacity. Upper-tail measurements generally showed the strongest associations, although broader distribution measures such as Ln were also related to tenacity. Relationships with yarn evenness, imperfections, and hairiness were weaker and less consistent.</a:t>
            </a:r>
            <a:endParaRPr sz="1600" b="0" dirty="0">
              <a:solidFill>
                <a:srgbClr val="2B302D"/>
              </a:solidFill>
              <a:latin typeface="Aptos"/>
            </a:endParaRPr>
          </a:p>
        </p:txBody>
      </p:sp>
      <p:sp>
        <p:nvSpPr>
          <p:cNvPr id="8" name="Rectangle 7"/>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566792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15828E2-D18D-01C7-E41F-EA586B11D6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6397" y="111125"/>
            <a:ext cx="6614754" cy="5556393"/>
          </a:xfrm>
          <a:prstGeom prst="rect">
            <a:avLst/>
          </a:prstGeom>
        </p:spPr>
      </p:pic>
      <p:sp>
        <p:nvSpPr>
          <p:cNvPr id="7" name="TextBox 6">
            <a:extLst>
              <a:ext uri="{FF2B5EF4-FFF2-40B4-BE49-F238E27FC236}">
                <a16:creationId xmlns:a16="http://schemas.microsoft.com/office/drawing/2014/main" id="{DEC99796-05C4-041B-F583-6510AFAD6126}"/>
              </a:ext>
            </a:extLst>
          </p:cNvPr>
          <p:cNvSpPr txBox="1"/>
          <p:nvPr/>
        </p:nvSpPr>
        <p:spPr>
          <a:xfrm>
            <a:off x="140208" y="5685314"/>
            <a:ext cx="12051792" cy="1077218"/>
          </a:xfrm>
          <a:prstGeom prst="rect">
            <a:avLst/>
          </a:prstGeom>
          <a:solidFill>
            <a:srgbClr val="EFF5EE"/>
          </a:solidFill>
          <a:ln w="15240">
            <a:solidFill>
              <a:srgbClr val="315D4A"/>
            </a:solidFill>
          </a:ln>
        </p:spPr>
        <p:txBody>
          <a:bodyPr wrap="square" lIns="128016" tIns="54864" bIns="36576">
            <a:spAutoFit/>
          </a:bodyPr>
          <a:lstStyle/>
          <a:p>
            <a:pPr algn="l">
              <a:spcBef>
                <a:spcPts val="0"/>
              </a:spcBef>
              <a:spcAft>
                <a:spcPts val="0"/>
              </a:spcAft>
            </a:pPr>
            <a:r>
              <a:rPr sz="1600" b="1" dirty="0">
                <a:solidFill>
                  <a:srgbClr val="315D4A"/>
                </a:solidFill>
                <a:latin typeface="Aptos"/>
              </a:rPr>
              <a:t>Take away: </a:t>
            </a:r>
            <a:r>
              <a:rPr lang="en-US" sz="1600" b="0" dirty="0">
                <a:solidFill>
                  <a:srgbClr val="2B302D"/>
                </a:solidFill>
                <a:latin typeface="Aptos"/>
              </a:rPr>
              <a:t>DP213 provided the clearest example of coordinated fiber-to-yarn translation, with longer upper-tail fibers and lower short-fiber measures occurring alongside greater yarn tenacity and skein strength and lower hairiness and thin places. This pattern is descriptive for this sister-line pair and should not be interpreted as evidence that every individual trait difference is independently significant.</a:t>
            </a:r>
            <a:endParaRPr sz="1600" b="0" dirty="0">
              <a:solidFill>
                <a:srgbClr val="2B302D"/>
              </a:solidFill>
              <a:latin typeface="Aptos"/>
            </a:endParaRPr>
          </a:p>
        </p:txBody>
      </p:sp>
      <p:sp>
        <p:nvSpPr>
          <p:cNvPr id="8" name="Rectangle 7"/>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085360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44081-DD4B-D268-48B2-BF7F59BA8BD0}"/>
              </a:ext>
            </a:extLst>
          </p:cNvPr>
          <p:cNvSpPr>
            <a:spLocks noGrp="1"/>
          </p:cNvSpPr>
          <p:nvPr>
            <p:ph type="title"/>
          </p:nvPr>
        </p:nvSpPr>
        <p:spPr/>
        <p:txBody>
          <a:bodyPr wrap="square">
            <a:normAutofit/>
          </a:bodyPr>
          <a:lstStyle/>
          <a:p>
            <a:r>
              <a:rPr lang="en-US" sz="3200" b="1" dirty="0">
                <a:solidFill>
                  <a:srgbClr val="315D4A"/>
                </a:solidFill>
                <a:latin typeface="Georgia"/>
              </a:rPr>
              <a:t>Integrated Results Summary</a:t>
            </a:r>
          </a:p>
        </p:txBody>
      </p:sp>
      <p:sp>
        <p:nvSpPr>
          <p:cNvPr id="3" name="Content Placeholder 2">
            <a:extLst>
              <a:ext uri="{FF2B5EF4-FFF2-40B4-BE49-F238E27FC236}">
                <a16:creationId xmlns:a16="http://schemas.microsoft.com/office/drawing/2014/main" id="{EB59A769-39B9-0695-C44D-52179952465F}"/>
              </a:ext>
            </a:extLst>
          </p:cNvPr>
          <p:cNvSpPr>
            <a:spLocks noGrp="1"/>
          </p:cNvSpPr>
          <p:nvPr>
            <p:ph idx="1"/>
          </p:nvPr>
        </p:nvSpPr>
        <p:spPr/>
        <p:txBody>
          <a:bodyPr wrap="square"/>
          <a:lstStyle/>
          <a:p>
            <a:pPr lvl="0"/>
            <a:r>
              <a:rPr lang="en-US" sz="2400" b="1" dirty="0">
                <a:solidFill>
                  <a:srgbClr val="2B302D"/>
                </a:solidFill>
                <a:latin typeface="Aptos"/>
              </a:rPr>
              <a:t>Processing: </a:t>
            </a:r>
            <a:r>
              <a:rPr lang="en-US" sz="2400" dirty="0" err="1">
                <a:solidFill>
                  <a:srgbClr val="2B302D"/>
                </a:solidFill>
                <a:latin typeface="Aptos"/>
              </a:rPr>
              <a:t>MiniSpin</a:t>
            </a:r>
            <a:r>
              <a:rPr lang="en-US" sz="2400" dirty="0">
                <a:solidFill>
                  <a:srgbClr val="2B302D"/>
                </a:solidFill>
                <a:latin typeface="Aptos"/>
              </a:rPr>
              <a:t> processing substantially altered fiber properties, particularly through carding. </a:t>
            </a:r>
          </a:p>
          <a:p>
            <a:pPr lvl="0"/>
            <a:r>
              <a:rPr lang="en-US" sz="2400" b="1" dirty="0">
                <a:solidFill>
                  <a:srgbClr val="2B302D"/>
                </a:solidFill>
                <a:latin typeface="Aptos"/>
              </a:rPr>
              <a:t>QTL persistence: </a:t>
            </a:r>
            <a:r>
              <a:rPr lang="en-US" sz="2400" i="1" dirty="0">
                <a:solidFill>
                  <a:srgbClr val="2B302D"/>
                </a:solidFill>
                <a:latin typeface="Aptos"/>
              </a:rPr>
              <a:t>qFL-Chr.25</a:t>
            </a:r>
            <a:r>
              <a:rPr lang="en-US" sz="2400" dirty="0">
                <a:solidFill>
                  <a:srgbClr val="2B302D"/>
                </a:solidFill>
                <a:latin typeface="Aptos"/>
              </a:rPr>
              <a:t>-positive lines retained higher upper-tail fiber length through processing; Nep count showed the clearest QTL × processing-stage response. </a:t>
            </a:r>
          </a:p>
          <a:p>
            <a:pPr lvl="0"/>
            <a:r>
              <a:rPr lang="en-US" sz="2400" b="1" dirty="0">
                <a:solidFill>
                  <a:srgbClr val="2B302D"/>
                </a:solidFill>
                <a:latin typeface="Aptos"/>
              </a:rPr>
              <a:t>Yarn response: </a:t>
            </a:r>
            <a:r>
              <a:rPr lang="en-US" sz="2400" dirty="0">
                <a:solidFill>
                  <a:srgbClr val="2B302D"/>
                </a:solidFill>
                <a:latin typeface="Aptos"/>
              </a:rPr>
              <a:t>Overall yarn effects were modest, with single-end tenacity showing the clearest positive response and heterogeneous responses among sister-line pairs. </a:t>
            </a:r>
          </a:p>
          <a:p>
            <a:pPr lvl="0"/>
            <a:r>
              <a:rPr lang="en-US" sz="2400" b="1" dirty="0">
                <a:solidFill>
                  <a:srgbClr val="2B302D"/>
                </a:solidFill>
                <a:latin typeface="Aptos"/>
              </a:rPr>
              <a:t>Fiber-to-yarn translation: </a:t>
            </a:r>
            <a:r>
              <a:rPr lang="en-US" sz="2400" dirty="0">
                <a:solidFill>
                  <a:srgbClr val="2B302D"/>
                </a:solidFill>
                <a:latin typeface="Aptos"/>
              </a:rPr>
              <a:t>Upper-tail length measured by HVI, AFIS, and </a:t>
            </a:r>
            <a:r>
              <a:rPr lang="en-US" sz="2400" dirty="0" err="1">
                <a:solidFill>
                  <a:srgbClr val="2B302D"/>
                </a:solidFill>
                <a:latin typeface="Aptos"/>
              </a:rPr>
              <a:t>fibrogram</a:t>
            </a:r>
            <a:r>
              <a:rPr lang="en-US" sz="2400" dirty="0">
                <a:solidFill>
                  <a:srgbClr val="2B302D"/>
                </a:solidFill>
                <a:latin typeface="Aptos"/>
              </a:rPr>
              <a:t> was consistently associated with yarn tenacity; DP213 provided the clearest example of coordinated fiber-to-yarn improvement.</a:t>
            </a:r>
          </a:p>
          <a:p>
            <a:endParaRPr lang="en-US" dirty="0"/>
          </a:p>
        </p:txBody>
      </p:sp>
      <p:sp>
        <p:nvSpPr>
          <p:cNvPr id="4" name="Rectangle 3"/>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985507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700" b="1" i="0" u="none" strike="noStrike" kern="1200" cap="none" spc="0" normalizeH="0" baseline="0" noProof="0">
                <a:ln>
                  <a:noFill/>
                </a:ln>
                <a:solidFill>
                  <a:srgbClr val="315D4A"/>
                </a:solidFill>
                <a:effectLst/>
                <a:uLnTx/>
                <a:uFillTx/>
                <a:latin typeface="Georgia"/>
                <a:ea typeface="+mn-ea"/>
                <a:cs typeface="+mn-cs"/>
              </a:rPr>
              <a:t>Updated Manuscript Plan</a:t>
            </a:r>
          </a:p>
        </p:txBody>
      </p:sp>
      <p:sp>
        <p:nvSpPr>
          <p:cNvPr id="3" name="TextBox 2"/>
          <p:cNvSpPr txBox="1"/>
          <p:nvPr/>
        </p:nvSpPr>
        <p:spPr>
          <a:xfrm>
            <a:off x="566928" y="786384"/>
            <a:ext cx="10972800" cy="310896"/>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50" b="0" i="0" u="none" strike="noStrike" kern="1200" cap="none" spc="0" normalizeH="0" baseline="0" noProof="0">
                <a:ln>
                  <a:noFill/>
                </a:ln>
                <a:solidFill>
                  <a:srgbClr val="626A65"/>
                </a:solidFill>
                <a:effectLst/>
                <a:uLnTx/>
                <a:uFillTx/>
                <a:latin typeface="Aptos"/>
                <a:ea typeface="+mn-ea"/>
                <a:cs typeface="+mn-cs"/>
              </a:rPr>
              <a:t>Finalized Results outline with planned analyses under each section.</a:t>
            </a:r>
          </a:p>
        </p:txBody>
      </p:sp>
      <p:sp>
        <p:nvSpPr>
          <p:cNvPr id="4" name="Rounded Rectangle 3"/>
          <p:cNvSpPr/>
          <p:nvPr/>
        </p:nvSpPr>
        <p:spPr>
          <a:xfrm>
            <a:off x="621792" y="1161288"/>
            <a:ext cx="10954512" cy="530352"/>
          </a:xfrm>
          <a:prstGeom prst="roundRect">
            <a:avLst/>
          </a:prstGeom>
          <a:solidFill>
            <a:srgbClr val="EEF3EC"/>
          </a:solidFill>
          <a:ln>
            <a:solidFill>
              <a:srgbClr val="7A9B8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p:cNvSpPr txBox="1"/>
          <p:nvPr/>
        </p:nvSpPr>
        <p:spPr>
          <a:xfrm>
            <a:off x="822960" y="1271016"/>
            <a:ext cx="10561320" cy="274320"/>
          </a:xfrm>
          <a:prstGeom prst="rect">
            <a:avLst/>
          </a:prstGeom>
          <a:noFill/>
        </p:spPr>
        <p:txBody>
          <a:bodyPr wrap="square" lIns="18288" tIns="9144" rIns="18288" bIns="9144"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15D4A"/>
                </a:solidFill>
                <a:effectLst/>
                <a:uLnTx/>
                <a:uFillTx/>
                <a:latin typeface="Aptos"/>
                <a:ea typeface="+mn-ea"/>
                <a:cs typeface="+mn-cs"/>
              </a:rPr>
              <a:t>Fiber-distribution phenotype  →  processing persistence  →  yarn response  →  fiber-to-yarn translation</a:t>
            </a:r>
          </a:p>
        </p:txBody>
      </p:sp>
      <p:sp>
        <p:nvSpPr>
          <p:cNvPr id="6" name="Rounded Rectangle 5"/>
          <p:cNvSpPr/>
          <p:nvPr/>
        </p:nvSpPr>
        <p:spPr>
          <a:xfrm>
            <a:off x="640080" y="1874518"/>
            <a:ext cx="5394960" cy="868679"/>
          </a:xfrm>
          <a:prstGeom prst="roundRect">
            <a:avLst/>
          </a:prstGeom>
          <a:solidFill>
            <a:srgbClr val="FFFFFF"/>
          </a:solidFill>
          <a:ln w="10160">
            <a:solidFill>
              <a:srgbClr val="CED7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TextBox 6"/>
          <p:cNvSpPr txBox="1"/>
          <p:nvPr/>
        </p:nvSpPr>
        <p:spPr>
          <a:xfrm>
            <a:off x="768096" y="1984247"/>
            <a:ext cx="4754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315D4A"/>
                </a:solidFill>
                <a:effectLst/>
                <a:uLnTx/>
                <a:uFillTx/>
                <a:latin typeface="Aptos"/>
                <a:ea typeface="+mn-ea"/>
                <a:cs typeface="+mn-cs"/>
              </a:rPr>
              <a:t>3.1</a:t>
            </a:r>
          </a:p>
        </p:txBody>
      </p:sp>
      <p:sp>
        <p:nvSpPr>
          <p:cNvPr id="8" name="TextBox 7"/>
          <p:cNvSpPr txBox="1"/>
          <p:nvPr/>
        </p:nvSpPr>
        <p:spPr>
          <a:xfrm>
            <a:off x="1280160" y="1956815"/>
            <a:ext cx="3730752" cy="36576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2B302D"/>
                </a:solidFill>
                <a:effectLst/>
                <a:uLnTx/>
                <a:uFillTx/>
                <a:latin typeface="Aptos"/>
                <a:ea typeface="+mn-ea"/>
                <a:cs typeface="+mn-cs"/>
              </a:rPr>
              <a:t>Experimental processing and yarn-count performance</a:t>
            </a:r>
          </a:p>
        </p:txBody>
      </p:sp>
      <p:sp>
        <p:nvSpPr>
          <p:cNvPr id="9" name="Rounded Rectangle 8"/>
          <p:cNvSpPr/>
          <p:nvPr/>
        </p:nvSpPr>
        <p:spPr>
          <a:xfrm>
            <a:off x="5102352" y="1965959"/>
            <a:ext cx="777240" cy="265176"/>
          </a:xfrm>
          <a:prstGeom prst="roundRect">
            <a:avLst/>
          </a:prstGeom>
          <a:solidFill>
            <a:srgbClr val="476F4F"/>
          </a:solidFill>
          <a:ln>
            <a:solidFill>
              <a:srgbClr val="476F4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TextBox 9"/>
          <p:cNvSpPr txBox="1"/>
          <p:nvPr/>
        </p:nvSpPr>
        <p:spPr>
          <a:xfrm>
            <a:off x="5102352" y="1970531"/>
            <a:ext cx="777240" cy="246888"/>
          </a:xfrm>
          <a:prstGeom prst="rect">
            <a:avLst/>
          </a:prstGeom>
          <a:noFill/>
        </p:spPr>
        <p:txBody>
          <a:bodyPr wrap="square" lIns="18288" tIns="9144" rIns="18288"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30" b="1" i="0" u="none" strike="noStrike" kern="1200" cap="none" spc="0" normalizeH="0" baseline="0" noProof="0">
                <a:ln>
                  <a:noFill/>
                </a:ln>
                <a:solidFill>
                  <a:srgbClr val="FFFFFF"/>
                </a:solidFill>
                <a:effectLst/>
                <a:uLnTx/>
                <a:uFillTx/>
                <a:latin typeface="Aptos"/>
                <a:ea typeface="+mn-ea"/>
                <a:cs typeface="+mn-cs"/>
              </a:rPr>
              <a:t>Complete</a:t>
            </a:r>
          </a:p>
        </p:txBody>
      </p:sp>
      <p:sp>
        <p:nvSpPr>
          <p:cNvPr id="11" name="TextBox 10"/>
          <p:cNvSpPr txBox="1"/>
          <p:nvPr/>
        </p:nvSpPr>
        <p:spPr>
          <a:xfrm>
            <a:off x="1280160" y="2340863"/>
            <a:ext cx="45902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30" b="0" i="0" u="none" strike="noStrike" kern="1200" cap="none" spc="0" normalizeH="0" baseline="0" noProof="0" dirty="0">
                <a:ln>
                  <a:noFill/>
                </a:ln>
                <a:solidFill>
                  <a:srgbClr val="626A65"/>
                </a:solidFill>
                <a:effectLst/>
                <a:uLnTx/>
                <a:uFillTx/>
                <a:latin typeface="Aptos"/>
                <a:ea typeface="+mn-ea"/>
                <a:cs typeface="+mn-cs"/>
              </a:rPr>
              <a:t>Processing/sample overview • Nominal vs actual yarn count • Ratch / spinning setup</a:t>
            </a:r>
          </a:p>
        </p:txBody>
      </p:sp>
      <p:sp>
        <p:nvSpPr>
          <p:cNvPr id="12" name="Rounded Rectangle 11"/>
          <p:cNvSpPr/>
          <p:nvPr/>
        </p:nvSpPr>
        <p:spPr>
          <a:xfrm>
            <a:off x="640080" y="2808732"/>
            <a:ext cx="5394960" cy="804672"/>
          </a:xfrm>
          <a:prstGeom prst="roundRect">
            <a:avLst/>
          </a:prstGeom>
          <a:solidFill>
            <a:srgbClr val="FFFFFF"/>
          </a:solidFill>
          <a:ln w="10160">
            <a:solidFill>
              <a:srgbClr val="CED7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p:cNvSpPr txBox="1"/>
          <p:nvPr/>
        </p:nvSpPr>
        <p:spPr>
          <a:xfrm>
            <a:off x="768096" y="2880360"/>
            <a:ext cx="4754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315D4A"/>
                </a:solidFill>
                <a:effectLst/>
                <a:uLnTx/>
                <a:uFillTx/>
                <a:latin typeface="Aptos"/>
                <a:ea typeface="+mn-ea"/>
                <a:cs typeface="+mn-cs"/>
              </a:rPr>
              <a:t>3.2</a:t>
            </a:r>
          </a:p>
        </p:txBody>
      </p:sp>
      <p:sp>
        <p:nvSpPr>
          <p:cNvPr id="14" name="TextBox 13"/>
          <p:cNvSpPr txBox="1"/>
          <p:nvPr/>
        </p:nvSpPr>
        <p:spPr>
          <a:xfrm>
            <a:off x="1280160" y="2852928"/>
            <a:ext cx="3730752" cy="36576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2B302D"/>
                </a:solidFill>
                <a:effectLst/>
                <a:uLnTx/>
                <a:uFillTx/>
                <a:latin typeface="Aptos"/>
                <a:ea typeface="+mn-ea"/>
                <a:cs typeface="+mn-cs"/>
              </a:rPr>
              <a:t>qFL effects on initial fiber properties</a:t>
            </a:r>
          </a:p>
        </p:txBody>
      </p:sp>
      <p:sp>
        <p:nvSpPr>
          <p:cNvPr id="17" name="TextBox 16"/>
          <p:cNvSpPr txBox="1"/>
          <p:nvPr/>
        </p:nvSpPr>
        <p:spPr>
          <a:xfrm>
            <a:off x="1280160" y="3236976"/>
            <a:ext cx="45902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30" b="0" i="0" u="none" strike="noStrike" kern="1200" cap="none" spc="0" normalizeH="0" baseline="0" noProof="0">
                <a:ln>
                  <a:noFill/>
                </a:ln>
                <a:solidFill>
                  <a:srgbClr val="626A65"/>
                </a:solidFill>
                <a:effectLst/>
                <a:uLnTx/>
                <a:uFillTx/>
                <a:latin typeface="Aptos"/>
                <a:ea typeface="+mn-ea"/>
                <a:cs typeface="+mn-cs"/>
              </a:rPr>
              <a:t>HVI traits • AFIS summary traits • Fibrogram traits • Classing-office HVI</a:t>
            </a:r>
          </a:p>
        </p:txBody>
      </p:sp>
      <p:sp>
        <p:nvSpPr>
          <p:cNvPr id="18" name="Rounded Rectangle 17"/>
          <p:cNvSpPr/>
          <p:nvPr/>
        </p:nvSpPr>
        <p:spPr>
          <a:xfrm>
            <a:off x="621792" y="3675508"/>
            <a:ext cx="5394960" cy="1042415"/>
          </a:xfrm>
          <a:prstGeom prst="roundRect">
            <a:avLst/>
          </a:prstGeom>
          <a:solidFill>
            <a:srgbClr val="FFFFFF"/>
          </a:solidFill>
          <a:ln w="10160">
            <a:solidFill>
              <a:srgbClr val="CED7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TextBox 18"/>
          <p:cNvSpPr txBox="1"/>
          <p:nvPr/>
        </p:nvSpPr>
        <p:spPr>
          <a:xfrm>
            <a:off x="768096" y="3776472"/>
            <a:ext cx="4754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315D4A"/>
                </a:solidFill>
                <a:effectLst/>
                <a:uLnTx/>
                <a:uFillTx/>
                <a:latin typeface="Aptos"/>
                <a:ea typeface="+mn-ea"/>
                <a:cs typeface="+mn-cs"/>
              </a:rPr>
              <a:t>3.3</a:t>
            </a:r>
          </a:p>
        </p:txBody>
      </p:sp>
      <p:sp>
        <p:nvSpPr>
          <p:cNvPr id="20" name="TextBox 19"/>
          <p:cNvSpPr txBox="1"/>
          <p:nvPr/>
        </p:nvSpPr>
        <p:spPr>
          <a:xfrm>
            <a:off x="1280160" y="3749040"/>
            <a:ext cx="3730752" cy="36576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2B302D"/>
                </a:solidFill>
                <a:effectLst/>
                <a:uLnTx/>
                <a:uFillTx/>
                <a:latin typeface="Aptos"/>
                <a:ea typeface="+mn-ea"/>
                <a:cs typeface="+mn-cs"/>
              </a:rPr>
              <a:t>Fiber-length distribution across harvest and ginning contexts</a:t>
            </a:r>
          </a:p>
        </p:txBody>
      </p:sp>
      <p:sp>
        <p:nvSpPr>
          <p:cNvPr id="21" name="Rounded Rectangle 20"/>
          <p:cNvSpPr/>
          <p:nvPr/>
        </p:nvSpPr>
        <p:spPr>
          <a:xfrm>
            <a:off x="5102352" y="3768471"/>
            <a:ext cx="777240" cy="265176"/>
          </a:xfrm>
          <a:prstGeom prst="roundRect">
            <a:avLst/>
          </a:prstGeom>
          <a:solidFill>
            <a:srgbClr val="976D27"/>
          </a:solidFill>
          <a:ln>
            <a:solidFill>
              <a:srgbClr val="976D2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TextBox 21"/>
          <p:cNvSpPr txBox="1"/>
          <p:nvPr/>
        </p:nvSpPr>
        <p:spPr>
          <a:xfrm>
            <a:off x="5102352" y="3790187"/>
            <a:ext cx="777240" cy="246888"/>
          </a:xfrm>
          <a:prstGeom prst="rect">
            <a:avLst/>
          </a:prstGeom>
          <a:noFill/>
        </p:spPr>
        <p:txBody>
          <a:bodyPr wrap="square" lIns="18288" tIns="9144" rIns="18288"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30" b="1" i="0" u="none" strike="noStrike" kern="1200" cap="none" spc="0" normalizeH="0" baseline="0" noProof="0" dirty="0">
                <a:ln>
                  <a:noFill/>
                </a:ln>
                <a:solidFill>
                  <a:srgbClr val="FFFFFF"/>
                </a:solidFill>
                <a:effectLst/>
                <a:uLnTx/>
                <a:uFillTx/>
                <a:latin typeface="Aptos"/>
                <a:ea typeface="+mn-ea"/>
                <a:cs typeface="+mn-cs"/>
              </a:rPr>
              <a:t>Pending</a:t>
            </a:r>
          </a:p>
        </p:txBody>
      </p:sp>
      <p:sp>
        <p:nvSpPr>
          <p:cNvPr id="23" name="TextBox 22"/>
          <p:cNvSpPr txBox="1"/>
          <p:nvPr/>
        </p:nvSpPr>
        <p:spPr>
          <a:xfrm>
            <a:off x="1280160" y="4133088"/>
            <a:ext cx="4590288" cy="493775"/>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30" b="0" i="0" u="none" strike="noStrike" kern="1200" cap="none" spc="0" normalizeH="0" baseline="0" noProof="0">
                <a:ln>
                  <a:noFill/>
                </a:ln>
                <a:solidFill>
                  <a:srgbClr val="626A65"/>
                </a:solidFill>
                <a:effectLst/>
                <a:uLnTx/>
                <a:uFillTx/>
                <a:latin typeface="Aptos"/>
                <a:ea typeface="+mn-ea"/>
                <a:cs typeface="+mn-cs"/>
              </a:rPr>
              <a:t>Hand-harvest AFIS distributions (7 env.) • Machine-harvest/microgin 2021 &amp; 2022 • Cross-method upper-tail comparison</a:t>
            </a:r>
          </a:p>
        </p:txBody>
      </p:sp>
      <p:sp>
        <p:nvSpPr>
          <p:cNvPr id="24" name="Rounded Rectangle 23"/>
          <p:cNvSpPr/>
          <p:nvPr/>
        </p:nvSpPr>
        <p:spPr>
          <a:xfrm>
            <a:off x="640080" y="4800600"/>
            <a:ext cx="5394960" cy="978408"/>
          </a:xfrm>
          <a:prstGeom prst="roundRect">
            <a:avLst/>
          </a:prstGeom>
          <a:solidFill>
            <a:srgbClr val="FFFFFF"/>
          </a:solidFill>
          <a:ln w="10160">
            <a:solidFill>
              <a:srgbClr val="CED7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TextBox 24"/>
          <p:cNvSpPr txBox="1"/>
          <p:nvPr/>
        </p:nvSpPr>
        <p:spPr>
          <a:xfrm>
            <a:off x="768096" y="4910328"/>
            <a:ext cx="4754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315D4A"/>
                </a:solidFill>
                <a:effectLst/>
                <a:uLnTx/>
                <a:uFillTx/>
                <a:latin typeface="Aptos"/>
                <a:ea typeface="+mn-ea"/>
                <a:cs typeface="+mn-cs"/>
              </a:rPr>
              <a:t>3.4</a:t>
            </a:r>
          </a:p>
        </p:txBody>
      </p:sp>
      <p:sp>
        <p:nvSpPr>
          <p:cNvPr id="26" name="TextBox 25"/>
          <p:cNvSpPr txBox="1"/>
          <p:nvPr/>
        </p:nvSpPr>
        <p:spPr>
          <a:xfrm>
            <a:off x="1280160" y="4882896"/>
            <a:ext cx="3730752" cy="36576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2B302D"/>
                </a:solidFill>
                <a:effectLst/>
                <a:uLnTx/>
                <a:uFillTx/>
                <a:latin typeface="Aptos"/>
                <a:ea typeface="+mn-ea"/>
                <a:cs typeface="+mn-cs"/>
              </a:rPr>
              <a:t>Fiber-quality changes and retention during processing</a:t>
            </a:r>
          </a:p>
        </p:txBody>
      </p:sp>
      <p:sp>
        <p:nvSpPr>
          <p:cNvPr id="27" name="Rounded Rectangle 26"/>
          <p:cNvSpPr/>
          <p:nvPr/>
        </p:nvSpPr>
        <p:spPr>
          <a:xfrm>
            <a:off x="5102352" y="4892040"/>
            <a:ext cx="777240" cy="265176"/>
          </a:xfrm>
          <a:prstGeom prst="roundRect">
            <a:avLst/>
          </a:prstGeom>
          <a:solidFill>
            <a:srgbClr val="476F4F"/>
          </a:solidFill>
          <a:ln>
            <a:solidFill>
              <a:srgbClr val="476F4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8" name="TextBox 27"/>
          <p:cNvSpPr txBox="1"/>
          <p:nvPr/>
        </p:nvSpPr>
        <p:spPr>
          <a:xfrm>
            <a:off x="5102352" y="4896612"/>
            <a:ext cx="777240" cy="246888"/>
          </a:xfrm>
          <a:prstGeom prst="rect">
            <a:avLst/>
          </a:prstGeom>
          <a:noFill/>
        </p:spPr>
        <p:txBody>
          <a:bodyPr wrap="square" lIns="18288" tIns="9144" rIns="18288"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30" b="1" i="0" u="none" strike="noStrike" kern="1200" cap="none" spc="0" normalizeH="0" baseline="0" noProof="0">
                <a:ln>
                  <a:noFill/>
                </a:ln>
                <a:solidFill>
                  <a:srgbClr val="FFFFFF"/>
                </a:solidFill>
                <a:effectLst/>
                <a:uLnTx/>
                <a:uFillTx/>
                <a:latin typeface="Aptos"/>
                <a:ea typeface="+mn-ea"/>
                <a:cs typeface="+mn-cs"/>
              </a:rPr>
              <a:t>Complete</a:t>
            </a:r>
          </a:p>
        </p:txBody>
      </p:sp>
      <p:sp>
        <p:nvSpPr>
          <p:cNvPr id="29" name="TextBox 28"/>
          <p:cNvSpPr txBox="1"/>
          <p:nvPr/>
        </p:nvSpPr>
        <p:spPr>
          <a:xfrm>
            <a:off x="1280160" y="5266944"/>
            <a:ext cx="4590288" cy="429768"/>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30" b="0" i="0" u="none" strike="noStrike" kern="1200" cap="none" spc="0" normalizeH="0" baseline="0" noProof="0">
                <a:ln>
                  <a:noFill/>
                </a:ln>
                <a:solidFill>
                  <a:srgbClr val="626A65"/>
                </a:solidFill>
                <a:effectLst/>
                <a:uLnTx/>
                <a:uFillTx/>
                <a:latin typeface="Aptos"/>
                <a:ea typeface="+mn-ea"/>
                <a:cs typeface="+mn-cs"/>
              </a:rPr>
              <a:t>Bale → Opened → Carded → Sliver • QTL+ vs QTL− trajectories • Stage effects • QTL × stage / Nep-count interaction</a:t>
            </a:r>
          </a:p>
        </p:txBody>
      </p:sp>
      <p:sp>
        <p:nvSpPr>
          <p:cNvPr id="30" name="Rounded Rectangle 29"/>
          <p:cNvSpPr/>
          <p:nvPr/>
        </p:nvSpPr>
        <p:spPr>
          <a:xfrm>
            <a:off x="640080" y="5870448"/>
            <a:ext cx="5394960" cy="804672"/>
          </a:xfrm>
          <a:prstGeom prst="roundRect">
            <a:avLst/>
          </a:prstGeom>
          <a:solidFill>
            <a:srgbClr val="FFFFFF"/>
          </a:solidFill>
          <a:ln w="10160">
            <a:solidFill>
              <a:srgbClr val="CED7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TextBox 30"/>
          <p:cNvSpPr txBox="1"/>
          <p:nvPr/>
        </p:nvSpPr>
        <p:spPr>
          <a:xfrm>
            <a:off x="768096" y="5980176"/>
            <a:ext cx="4754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315D4A"/>
                </a:solidFill>
                <a:effectLst/>
                <a:uLnTx/>
                <a:uFillTx/>
                <a:latin typeface="Aptos"/>
                <a:ea typeface="+mn-ea"/>
                <a:cs typeface="+mn-cs"/>
              </a:rPr>
              <a:t>3.5</a:t>
            </a:r>
          </a:p>
        </p:txBody>
      </p:sp>
      <p:sp>
        <p:nvSpPr>
          <p:cNvPr id="32" name="TextBox 31"/>
          <p:cNvSpPr txBox="1"/>
          <p:nvPr/>
        </p:nvSpPr>
        <p:spPr>
          <a:xfrm>
            <a:off x="1280160" y="5952744"/>
            <a:ext cx="3730752" cy="36576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2B302D"/>
                </a:solidFill>
                <a:effectLst/>
                <a:uLnTx/>
                <a:uFillTx/>
                <a:latin typeface="Aptos"/>
                <a:ea typeface="+mn-ea"/>
                <a:cs typeface="+mn-cs"/>
              </a:rPr>
              <a:t>Card loss and processing response</a:t>
            </a:r>
          </a:p>
        </p:txBody>
      </p:sp>
      <p:sp>
        <p:nvSpPr>
          <p:cNvPr id="33" name="Rounded Rectangle 32"/>
          <p:cNvSpPr/>
          <p:nvPr/>
        </p:nvSpPr>
        <p:spPr>
          <a:xfrm>
            <a:off x="5102352" y="5961888"/>
            <a:ext cx="777240" cy="265176"/>
          </a:xfrm>
          <a:prstGeom prst="roundRect">
            <a:avLst/>
          </a:prstGeom>
          <a:solidFill>
            <a:srgbClr val="476F4F"/>
          </a:solidFill>
          <a:ln>
            <a:solidFill>
              <a:srgbClr val="476F4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TextBox 33"/>
          <p:cNvSpPr txBox="1"/>
          <p:nvPr/>
        </p:nvSpPr>
        <p:spPr>
          <a:xfrm>
            <a:off x="5102352" y="5966460"/>
            <a:ext cx="777240" cy="246888"/>
          </a:xfrm>
          <a:prstGeom prst="rect">
            <a:avLst/>
          </a:prstGeom>
          <a:noFill/>
        </p:spPr>
        <p:txBody>
          <a:bodyPr wrap="square" lIns="18288" tIns="9144" rIns="18288"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30" b="1" i="0" u="none" strike="noStrike" kern="1200" cap="none" spc="0" normalizeH="0" baseline="0" noProof="0">
                <a:ln>
                  <a:noFill/>
                </a:ln>
                <a:solidFill>
                  <a:srgbClr val="FFFFFF"/>
                </a:solidFill>
                <a:effectLst/>
                <a:uLnTx/>
                <a:uFillTx/>
                <a:latin typeface="Aptos"/>
                <a:ea typeface="+mn-ea"/>
                <a:cs typeface="+mn-cs"/>
              </a:rPr>
              <a:t>Complete</a:t>
            </a:r>
          </a:p>
        </p:txBody>
      </p:sp>
      <p:sp>
        <p:nvSpPr>
          <p:cNvPr id="35" name="TextBox 34"/>
          <p:cNvSpPr txBox="1"/>
          <p:nvPr/>
        </p:nvSpPr>
        <p:spPr>
          <a:xfrm>
            <a:off x="1280160" y="6263640"/>
            <a:ext cx="45902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30" b="0" i="0" u="none" strike="noStrike" kern="1200" cap="none" spc="0" normalizeH="0" baseline="0" noProof="0" dirty="0">
                <a:ln>
                  <a:noFill/>
                </a:ln>
                <a:solidFill>
                  <a:srgbClr val="626A65"/>
                </a:solidFill>
                <a:effectLst/>
                <a:uLnTx/>
                <a:uFillTx/>
                <a:latin typeface="Aptos"/>
                <a:ea typeface="+mn-ea"/>
                <a:cs typeface="+mn-cs"/>
              </a:rPr>
              <a:t>Card waste • Actual yarn-count response • Processing interpretation / downstream context</a:t>
            </a:r>
          </a:p>
        </p:txBody>
      </p:sp>
      <p:sp>
        <p:nvSpPr>
          <p:cNvPr id="36" name="Rounded Rectangle 35"/>
          <p:cNvSpPr/>
          <p:nvPr/>
        </p:nvSpPr>
        <p:spPr>
          <a:xfrm>
            <a:off x="6153912" y="1874519"/>
            <a:ext cx="5394960" cy="960120"/>
          </a:xfrm>
          <a:prstGeom prst="roundRect">
            <a:avLst/>
          </a:prstGeom>
          <a:solidFill>
            <a:srgbClr val="FFFFFF"/>
          </a:solidFill>
          <a:ln w="10160">
            <a:solidFill>
              <a:srgbClr val="CED7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p:cNvSpPr txBox="1"/>
          <p:nvPr/>
        </p:nvSpPr>
        <p:spPr>
          <a:xfrm>
            <a:off x="6281928" y="1984247"/>
            <a:ext cx="4754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315D4A"/>
                </a:solidFill>
                <a:effectLst/>
                <a:uLnTx/>
                <a:uFillTx/>
                <a:latin typeface="Aptos"/>
                <a:ea typeface="+mn-ea"/>
                <a:cs typeface="+mn-cs"/>
              </a:rPr>
              <a:t>3.6</a:t>
            </a:r>
          </a:p>
        </p:txBody>
      </p:sp>
      <p:sp>
        <p:nvSpPr>
          <p:cNvPr id="38" name="TextBox 37"/>
          <p:cNvSpPr txBox="1"/>
          <p:nvPr/>
        </p:nvSpPr>
        <p:spPr>
          <a:xfrm>
            <a:off x="6793992" y="1956815"/>
            <a:ext cx="3730752" cy="36576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2B302D"/>
                </a:solidFill>
                <a:effectLst/>
                <a:uLnTx/>
                <a:uFillTx/>
                <a:latin typeface="Aptos"/>
                <a:ea typeface="+mn-ea"/>
                <a:cs typeface="+mn-cs"/>
              </a:rPr>
              <a:t>Yarn strength and elongation</a:t>
            </a:r>
          </a:p>
        </p:txBody>
      </p:sp>
      <p:sp>
        <p:nvSpPr>
          <p:cNvPr id="39" name="Rounded Rectangle 38"/>
          <p:cNvSpPr/>
          <p:nvPr/>
        </p:nvSpPr>
        <p:spPr>
          <a:xfrm>
            <a:off x="10616184" y="1965959"/>
            <a:ext cx="777240" cy="265176"/>
          </a:xfrm>
          <a:prstGeom prst="roundRect">
            <a:avLst/>
          </a:prstGeom>
          <a:solidFill>
            <a:srgbClr val="476F4F"/>
          </a:solidFill>
          <a:ln>
            <a:solidFill>
              <a:srgbClr val="476F4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TextBox 39"/>
          <p:cNvSpPr txBox="1"/>
          <p:nvPr/>
        </p:nvSpPr>
        <p:spPr>
          <a:xfrm>
            <a:off x="10616184" y="1970531"/>
            <a:ext cx="777240" cy="246888"/>
          </a:xfrm>
          <a:prstGeom prst="rect">
            <a:avLst/>
          </a:prstGeom>
          <a:noFill/>
        </p:spPr>
        <p:txBody>
          <a:bodyPr wrap="square" lIns="18288" tIns="9144" rIns="18288"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30" b="1" i="0" u="none" strike="noStrike" kern="1200" cap="none" spc="0" normalizeH="0" baseline="0" noProof="0">
                <a:ln>
                  <a:noFill/>
                </a:ln>
                <a:solidFill>
                  <a:srgbClr val="FFFFFF"/>
                </a:solidFill>
                <a:effectLst/>
                <a:uLnTx/>
                <a:uFillTx/>
                <a:latin typeface="Aptos"/>
                <a:ea typeface="+mn-ea"/>
                <a:cs typeface="+mn-cs"/>
              </a:rPr>
              <a:t>Complete</a:t>
            </a:r>
          </a:p>
        </p:txBody>
      </p:sp>
      <p:sp>
        <p:nvSpPr>
          <p:cNvPr id="41" name="TextBox 40"/>
          <p:cNvSpPr txBox="1"/>
          <p:nvPr/>
        </p:nvSpPr>
        <p:spPr>
          <a:xfrm>
            <a:off x="6793992" y="2340863"/>
            <a:ext cx="4590288" cy="41148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30" b="0" i="0" u="none" strike="noStrike" kern="1200" cap="none" spc="0" normalizeH="0" baseline="0" noProof="0">
                <a:ln>
                  <a:noFill/>
                </a:ln>
                <a:solidFill>
                  <a:srgbClr val="626A65"/>
                </a:solidFill>
                <a:effectLst/>
                <a:uLnTx/>
                <a:uFillTx/>
                <a:latin typeface="Aptos"/>
                <a:ea typeface="+mn-ea"/>
                <a:cs typeface="+mn-cs"/>
              </a:rPr>
              <a:t>Single-end tenacity • Skein strength • Yarn elongation • Overall + sister-pair contrasts</a:t>
            </a:r>
          </a:p>
        </p:txBody>
      </p:sp>
      <p:sp>
        <p:nvSpPr>
          <p:cNvPr id="42" name="Rounded Rectangle 41"/>
          <p:cNvSpPr/>
          <p:nvPr/>
        </p:nvSpPr>
        <p:spPr>
          <a:xfrm>
            <a:off x="6153912" y="2962656"/>
            <a:ext cx="5394960" cy="914400"/>
          </a:xfrm>
          <a:prstGeom prst="roundRect">
            <a:avLst/>
          </a:prstGeom>
          <a:solidFill>
            <a:srgbClr val="FFFFFF"/>
          </a:solidFill>
          <a:ln w="10160">
            <a:solidFill>
              <a:srgbClr val="CED7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3" name="TextBox 42"/>
          <p:cNvSpPr txBox="1"/>
          <p:nvPr/>
        </p:nvSpPr>
        <p:spPr>
          <a:xfrm>
            <a:off x="6281928" y="3072384"/>
            <a:ext cx="4754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315D4A"/>
                </a:solidFill>
                <a:effectLst/>
                <a:uLnTx/>
                <a:uFillTx/>
                <a:latin typeface="Aptos"/>
                <a:ea typeface="+mn-ea"/>
                <a:cs typeface="+mn-cs"/>
              </a:rPr>
              <a:t>3.7</a:t>
            </a:r>
          </a:p>
        </p:txBody>
      </p:sp>
      <p:sp>
        <p:nvSpPr>
          <p:cNvPr id="44" name="TextBox 43"/>
          <p:cNvSpPr txBox="1"/>
          <p:nvPr/>
        </p:nvSpPr>
        <p:spPr>
          <a:xfrm>
            <a:off x="6793992" y="3044952"/>
            <a:ext cx="3730752" cy="36576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2B302D"/>
                </a:solidFill>
                <a:effectLst/>
                <a:uLnTx/>
                <a:uFillTx/>
                <a:latin typeface="Aptos"/>
                <a:ea typeface="+mn-ea"/>
                <a:cs typeface="+mn-cs"/>
              </a:rPr>
              <a:t>Yarn evenness, imperfections, and hairiness</a:t>
            </a:r>
          </a:p>
        </p:txBody>
      </p:sp>
      <p:sp>
        <p:nvSpPr>
          <p:cNvPr id="45" name="Rounded Rectangle 44"/>
          <p:cNvSpPr/>
          <p:nvPr/>
        </p:nvSpPr>
        <p:spPr>
          <a:xfrm>
            <a:off x="10616184" y="3054096"/>
            <a:ext cx="777240" cy="265176"/>
          </a:xfrm>
          <a:prstGeom prst="roundRect">
            <a:avLst/>
          </a:prstGeom>
          <a:solidFill>
            <a:srgbClr val="476F4F"/>
          </a:solidFill>
          <a:ln>
            <a:solidFill>
              <a:srgbClr val="476F4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Box 45"/>
          <p:cNvSpPr txBox="1"/>
          <p:nvPr/>
        </p:nvSpPr>
        <p:spPr>
          <a:xfrm>
            <a:off x="10616184" y="3058668"/>
            <a:ext cx="777240" cy="246888"/>
          </a:xfrm>
          <a:prstGeom prst="rect">
            <a:avLst/>
          </a:prstGeom>
          <a:noFill/>
        </p:spPr>
        <p:txBody>
          <a:bodyPr wrap="square" lIns="18288" tIns="9144" rIns="18288"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30" b="1" i="0" u="none" strike="noStrike" kern="1200" cap="none" spc="0" normalizeH="0" baseline="0" noProof="0">
                <a:ln>
                  <a:noFill/>
                </a:ln>
                <a:solidFill>
                  <a:srgbClr val="FFFFFF"/>
                </a:solidFill>
                <a:effectLst/>
                <a:uLnTx/>
                <a:uFillTx/>
                <a:latin typeface="Aptos"/>
                <a:ea typeface="+mn-ea"/>
                <a:cs typeface="+mn-cs"/>
              </a:rPr>
              <a:t>Complete</a:t>
            </a:r>
          </a:p>
        </p:txBody>
      </p:sp>
      <p:sp>
        <p:nvSpPr>
          <p:cNvPr id="47" name="TextBox 46"/>
          <p:cNvSpPr txBox="1"/>
          <p:nvPr/>
        </p:nvSpPr>
        <p:spPr>
          <a:xfrm>
            <a:off x="6793992" y="3429000"/>
            <a:ext cx="4590288" cy="36576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30" b="0" i="0" u="none" strike="noStrike" kern="1200" cap="none" spc="0" normalizeH="0" baseline="0" noProof="0">
                <a:ln>
                  <a:noFill/>
                </a:ln>
                <a:solidFill>
                  <a:srgbClr val="626A65"/>
                </a:solidFill>
                <a:effectLst/>
                <a:uLnTx/>
                <a:uFillTx/>
                <a:latin typeface="Aptos"/>
                <a:ea typeface="+mn-ea"/>
                <a:cs typeface="+mn-cs"/>
              </a:rPr>
              <a:t>Evenness CV • Thin / thick places • Yarn neps • Hairiness</a:t>
            </a:r>
          </a:p>
        </p:txBody>
      </p:sp>
      <p:sp>
        <p:nvSpPr>
          <p:cNvPr id="48" name="Rounded Rectangle 47"/>
          <p:cNvSpPr/>
          <p:nvPr/>
        </p:nvSpPr>
        <p:spPr>
          <a:xfrm>
            <a:off x="6153912" y="4005072"/>
            <a:ext cx="5394960" cy="1097280"/>
          </a:xfrm>
          <a:prstGeom prst="roundRect">
            <a:avLst/>
          </a:prstGeom>
          <a:solidFill>
            <a:srgbClr val="FFFFFF"/>
          </a:solidFill>
          <a:ln w="10160">
            <a:solidFill>
              <a:srgbClr val="CED7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9" name="TextBox 48"/>
          <p:cNvSpPr txBox="1"/>
          <p:nvPr/>
        </p:nvSpPr>
        <p:spPr>
          <a:xfrm>
            <a:off x="6281928" y="4114800"/>
            <a:ext cx="4754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315D4A"/>
                </a:solidFill>
                <a:effectLst/>
                <a:uLnTx/>
                <a:uFillTx/>
                <a:latin typeface="Aptos"/>
                <a:ea typeface="+mn-ea"/>
                <a:cs typeface="+mn-cs"/>
              </a:rPr>
              <a:t>3.8</a:t>
            </a:r>
          </a:p>
        </p:txBody>
      </p:sp>
      <p:sp>
        <p:nvSpPr>
          <p:cNvPr id="50" name="TextBox 49"/>
          <p:cNvSpPr txBox="1"/>
          <p:nvPr/>
        </p:nvSpPr>
        <p:spPr>
          <a:xfrm>
            <a:off x="6793992" y="4087368"/>
            <a:ext cx="3730752" cy="36576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2B302D"/>
                </a:solidFill>
                <a:effectLst/>
                <a:uLnTx/>
                <a:uFillTx/>
                <a:latin typeface="Aptos"/>
                <a:ea typeface="+mn-ea"/>
                <a:cs typeface="+mn-cs"/>
              </a:rPr>
              <a:t>Fiber-to-yarn relationships</a:t>
            </a:r>
          </a:p>
        </p:txBody>
      </p:sp>
      <p:sp>
        <p:nvSpPr>
          <p:cNvPr id="51" name="Rounded Rectangle 50"/>
          <p:cNvSpPr/>
          <p:nvPr/>
        </p:nvSpPr>
        <p:spPr>
          <a:xfrm>
            <a:off x="10616184" y="4096512"/>
            <a:ext cx="777240" cy="265176"/>
          </a:xfrm>
          <a:prstGeom prst="roundRect">
            <a:avLst/>
          </a:prstGeom>
          <a:solidFill>
            <a:srgbClr val="476F4F"/>
          </a:solidFill>
          <a:ln>
            <a:solidFill>
              <a:srgbClr val="476F4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2" name="TextBox 51"/>
          <p:cNvSpPr txBox="1"/>
          <p:nvPr/>
        </p:nvSpPr>
        <p:spPr>
          <a:xfrm>
            <a:off x="10616184" y="4101084"/>
            <a:ext cx="777240" cy="246888"/>
          </a:xfrm>
          <a:prstGeom prst="rect">
            <a:avLst/>
          </a:prstGeom>
          <a:noFill/>
        </p:spPr>
        <p:txBody>
          <a:bodyPr wrap="square" lIns="18288" tIns="9144" rIns="18288"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30" b="1" i="0" u="none" strike="noStrike" kern="1200" cap="none" spc="0" normalizeH="0" baseline="0" noProof="0">
                <a:ln>
                  <a:noFill/>
                </a:ln>
                <a:solidFill>
                  <a:srgbClr val="FFFFFF"/>
                </a:solidFill>
                <a:effectLst/>
                <a:uLnTx/>
                <a:uFillTx/>
                <a:latin typeface="Aptos"/>
                <a:ea typeface="+mn-ea"/>
                <a:cs typeface="+mn-cs"/>
              </a:rPr>
              <a:t>Complete</a:t>
            </a:r>
          </a:p>
        </p:txBody>
      </p:sp>
      <p:sp>
        <p:nvSpPr>
          <p:cNvPr id="53" name="TextBox 52"/>
          <p:cNvSpPr txBox="1"/>
          <p:nvPr/>
        </p:nvSpPr>
        <p:spPr>
          <a:xfrm>
            <a:off x="6793992" y="4471416"/>
            <a:ext cx="4590288" cy="54864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30" b="0" i="0" u="none" strike="noStrike" kern="1200" cap="none" spc="0" normalizeH="0" baseline="0" noProof="0">
                <a:ln>
                  <a:noFill/>
                </a:ln>
                <a:solidFill>
                  <a:srgbClr val="626A65"/>
                </a:solidFill>
                <a:effectLst/>
                <a:uLnTx/>
                <a:uFillTx/>
                <a:latin typeface="Aptos"/>
                <a:ea typeface="+mn-ea"/>
                <a:cs typeface="+mn-cs"/>
              </a:rPr>
              <a:t>Pearson correlations • Adjusted single-predictor models • Small multivariable models • Pair-difference analysis + DP213</a:t>
            </a:r>
          </a:p>
        </p:txBody>
      </p:sp>
      <p:sp>
        <p:nvSpPr>
          <p:cNvPr id="54" name="Rounded Rectangle 53"/>
          <p:cNvSpPr/>
          <p:nvPr/>
        </p:nvSpPr>
        <p:spPr>
          <a:xfrm>
            <a:off x="6153912" y="5230368"/>
            <a:ext cx="5394960" cy="1097280"/>
          </a:xfrm>
          <a:prstGeom prst="roundRect">
            <a:avLst/>
          </a:prstGeom>
          <a:solidFill>
            <a:srgbClr val="FFFFFF"/>
          </a:solidFill>
          <a:ln w="10160">
            <a:solidFill>
              <a:srgbClr val="CED7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5" name="TextBox 54"/>
          <p:cNvSpPr txBox="1"/>
          <p:nvPr/>
        </p:nvSpPr>
        <p:spPr>
          <a:xfrm>
            <a:off x="6281928" y="5340096"/>
            <a:ext cx="475488" cy="256032"/>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315D4A"/>
                </a:solidFill>
                <a:effectLst/>
                <a:uLnTx/>
                <a:uFillTx/>
                <a:latin typeface="Aptos"/>
                <a:ea typeface="+mn-ea"/>
                <a:cs typeface="+mn-cs"/>
              </a:rPr>
              <a:t>3.9</a:t>
            </a:r>
          </a:p>
        </p:txBody>
      </p:sp>
      <p:sp>
        <p:nvSpPr>
          <p:cNvPr id="56" name="TextBox 55"/>
          <p:cNvSpPr txBox="1"/>
          <p:nvPr/>
        </p:nvSpPr>
        <p:spPr>
          <a:xfrm>
            <a:off x="6793992" y="5312664"/>
            <a:ext cx="3730752" cy="36576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2B302D"/>
                </a:solidFill>
                <a:effectLst/>
                <a:uLnTx/>
                <a:uFillTx/>
                <a:latin typeface="Aptos"/>
                <a:ea typeface="+mn-ea"/>
                <a:cs typeface="+mn-cs"/>
              </a:rPr>
              <a:t>Sensitivity to ratch and yarn count</a:t>
            </a:r>
          </a:p>
        </p:txBody>
      </p:sp>
      <p:sp>
        <p:nvSpPr>
          <p:cNvPr id="57" name="Rounded Rectangle 56"/>
          <p:cNvSpPr/>
          <p:nvPr/>
        </p:nvSpPr>
        <p:spPr>
          <a:xfrm>
            <a:off x="10616184" y="5321808"/>
            <a:ext cx="777240" cy="265176"/>
          </a:xfrm>
          <a:prstGeom prst="roundRect">
            <a:avLst/>
          </a:prstGeom>
          <a:solidFill>
            <a:srgbClr val="476F4F"/>
          </a:solidFill>
          <a:ln>
            <a:solidFill>
              <a:srgbClr val="476F4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8" name="TextBox 57"/>
          <p:cNvSpPr txBox="1"/>
          <p:nvPr/>
        </p:nvSpPr>
        <p:spPr>
          <a:xfrm>
            <a:off x="10616184" y="5326380"/>
            <a:ext cx="777240" cy="246888"/>
          </a:xfrm>
          <a:prstGeom prst="rect">
            <a:avLst/>
          </a:prstGeom>
          <a:noFill/>
        </p:spPr>
        <p:txBody>
          <a:bodyPr wrap="square" lIns="18288" tIns="9144" rIns="18288"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30" b="1" i="0" u="none" strike="noStrike" kern="1200" cap="none" spc="0" normalizeH="0" baseline="0" noProof="0">
                <a:ln>
                  <a:noFill/>
                </a:ln>
                <a:solidFill>
                  <a:srgbClr val="FFFFFF"/>
                </a:solidFill>
                <a:effectLst/>
                <a:uLnTx/>
                <a:uFillTx/>
                <a:latin typeface="Aptos"/>
                <a:ea typeface="+mn-ea"/>
                <a:cs typeface="+mn-cs"/>
              </a:rPr>
              <a:t>Complete</a:t>
            </a:r>
          </a:p>
        </p:txBody>
      </p:sp>
      <p:sp>
        <p:nvSpPr>
          <p:cNvPr id="59" name="TextBox 58"/>
          <p:cNvSpPr txBox="1"/>
          <p:nvPr/>
        </p:nvSpPr>
        <p:spPr>
          <a:xfrm>
            <a:off x="6793992" y="5696712"/>
            <a:ext cx="4590288" cy="548640"/>
          </a:xfrm>
          <a:prstGeom prst="rect">
            <a:avLst/>
          </a:prstGeom>
          <a:noFill/>
        </p:spPr>
        <p:txBody>
          <a:bodyPr wrap="square" lIns="18288" tIns="9144" rIns="18288" bIns="9144"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30" b="0" i="0" u="none" strike="noStrike" kern="1200" cap="none" spc="0" normalizeH="0" baseline="0" noProof="0">
                <a:ln>
                  <a:noFill/>
                </a:ln>
                <a:solidFill>
                  <a:srgbClr val="626A65"/>
                </a:solidFill>
                <a:effectLst/>
                <a:uLnTx/>
                <a:uFillTx/>
                <a:latin typeface="Aptos"/>
                <a:ea typeface="+mn-ea"/>
                <a:cs typeface="+mn-cs"/>
              </a:rPr>
              <a:t>Count-adjusted model • Ratch-adjusted model • Ratch-3 subset • Influential-sample / singular-model checks</a:t>
            </a:r>
          </a:p>
        </p:txBody>
      </p:sp>
      <p:sp>
        <p:nvSpPr>
          <p:cNvPr id="60" name="Rounded Rectangle 59"/>
          <p:cNvSpPr/>
          <p:nvPr/>
        </p:nvSpPr>
        <p:spPr>
          <a:xfrm>
            <a:off x="6153912" y="6163056"/>
            <a:ext cx="5394960" cy="512064"/>
          </a:xfrm>
          <a:prstGeom prst="roundRect">
            <a:avLst/>
          </a:prstGeom>
          <a:solidFill>
            <a:srgbClr val="EEF3EC"/>
          </a:solidFill>
          <a:ln>
            <a:solidFill>
              <a:srgbClr val="CED7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TextBox 60"/>
          <p:cNvSpPr txBox="1"/>
          <p:nvPr/>
        </p:nvSpPr>
        <p:spPr>
          <a:xfrm>
            <a:off x="6327648" y="6272784"/>
            <a:ext cx="5047488" cy="274320"/>
          </a:xfrm>
          <a:prstGeom prst="rect">
            <a:avLst/>
          </a:prstGeom>
          <a:noFill/>
        </p:spPr>
        <p:txBody>
          <a:bodyPr wrap="square" lIns="18288" tIns="9144" rIns="18288" bIns="9144"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20" b="0" i="0" u="none" strike="noStrike" kern="1200" cap="none" spc="0" normalizeH="0" baseline="0" noProof="0" dirty="0">
                <a:ln>
                  <a:noFill/>
                </a:ln>
                <a:solidFill>
                  <a:srgbClr val="2B302D"/>
                </a:solidFill>
                <a:effectLst/>
                <a:uLnTx/>
                <a:uFillTx/>
                <a:latin typeface="Aptos"/>
                <a:ea typeface="+mn-ea"/>
                <a:cs typeface="+mn-cs"/>
              </a:rPr>
              <a:t>Primary inference: mixed-model/FDR across 16 NIILs; pair/genotype contrasts are supporting evidence. Yield excluded.</a:t>
            </a:r>
          </a:p>
        </p:txBody>
      </p:sp>
      <p:sp>
        <p:nvSpPr>
          <p:cNvPr id="62" name="Rectangle 61"/>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6" name="Rounded Rectangle 20">
            <a:extLst>
              <a:ext uri="{FF2B5EF4-FFF2-40B4-BE49-F238E27FC236}">
                <a16:creationId xmlns:a16="http://schemas.microsoft.com/office/drawing/2014/main" id="{FEF40D93-F726-D48E-D4A7-D162472D9CFE}"/>
              </a:ext>
            </a:extLst>
          </p:cNvPr>
          <p:cNvSpPr/>
          <p:nvPr/>
        </p:nvSpPr>
        <p:spPr>
          <a:xfrm>
            <a:off x="5102352" y="2862070"/>
            <a:ext cx="777240" cy="265176"/>
          </a:xfrm>
          <a:prstGeom prst="roundRect">
            <a:avLst/>
          </a:prstGeom>
          <a:solidFill>
            <a:srgbClr val="976D27"/>
          </a:solidFill>
          <a:ln>
            <a:solidFill>
              <a:srgbClr val="976D2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4" name="TextBox 63">
            <a:extLst>
              <a:ext uri="{FF2B5EF4-FFF2-40B4-BE49-F238E27FC236}">
                <a16:creationId xmlns:a16="http://schemas.microsoft.com/office/drawing/2014/main" id="{230B40E2-1345-2F88-F25C-766AC97D1160}"/>
              </a:ext>
            </a:extLst>
          </p:cNvPr>
          <p:cNvSpPr txBox="1"/>
          <p:nvPr/>
        </p:nvSpPr>
        <p:spPr>
          <a:xfrm>
            <a:off x="5093208" y="2889121"/>
            <a:ext cx="777240" cy="246888"/>
          </a:xfrm>
          <a:prstGeom prst="rect">
            <a:avLst/>
          </a:prstGeom>
          <a:noFill/>
        </p:spPr>
        <p:txBody>
          <a:bodyPr wrap="square" lIns="18288" tIns="9144" rIns="18288"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30" b="1" i="0" u="none" strike="noStrike" kern="1200" cap="none" spc="0" normalizeH="0" baseline="0" noProof="0" dirty="0">
                <a:ln>
                  <a:noFill/>
                </a:ln>
                <a:solidFill>
                  <a:srgbClr val="FFFFFF"/>
                </a:solidFill>
                <a:effectLst/>
                <a:uLnTx/>
                <a:uFillTx/>
                <a:latin typeface="Aptos"/>
                <a:ea typeface="+mn-ea"/>
                <a:cs typeface="+mn-cs"/>
              </a:rPr>
              <a:t>Pending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p:cNvSpPr txBox="1"/>
          <p:nvPr/>
        </p:nvSpPr>
        <p:spPr>
          <a:xfrm>
            <a:off x="502920" y="237744"/>
            <a:ext cx="11064240" cy="45720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315D4A"/>
                </a:solidFill>
                <a:effectLst/>
                <a:uLnTx/>
                <a:uFillTx/>
                <a:latin typeface="Georgia"/>
                <a:ea typeface="+mn-ea"/>
                <a:cs typeface="+mn-cs"/>
              </a:rPr>
              <a:t>Results Figure Coverage and Remaining Gaps</a:t>
            </a:r>
          </a:p>
        </p:txBody>
      </p:sp>
      <p:sp>
        <p:nvSpPr>
          <p:cNvPr id="3" name="TextBox 2"/>
          <p:cNvSpPr txBox="1"/>
          <p:nvPr/>
        </p:nvSpPr>
        <p:spPr>
          <a:xfrm>
            <a:off x="230428" y="989146"/>
            <a:ext cx="5606415" cy="1508105"/>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315D4A"/>
                </a:solidFill>
                <a:effectLst/>
                <a:uLnTx/>
                <a:uFillTx/>
                <a:latin typeface="Georgia"/>
                <a:ea typeface="+mn-ea"/>
                <a:cs typeface="+mn-cs"/>
              </a:rPr>
              <a:t>Most </a:t>
            </a:r>
            <a:r>
              <a:rPr kumimoji="0" sz="2300" b="1" i="0" u="none" strike="noStrike" kern="1200" cap="none" spc="0" normalizeH="0" baseline="0" noProof="0" dirty="0">
                <a:ln>
                  <a:noFill/>
                </a:ln>
                <a:solidFill>
                  <a:srgbClr val="315D4A"/>
                </a:solidFill>
                <a:effectLst/>
                <a:uLnTx/>
                <a:uFillTx/>
                <a:latin typeface="Georgia"/>
                <a:ea typeface="+mn-ea"/>
                <a:cs typeface="+mn-cs"/>
              </a:rPr>
              <a:t>of the finalized Results </a:t>
            </a:r>
            <a:r>
              <a:rPr kumimoji="0" lang="en-US" sz="2300" b="1" i="0" u="none" strike="noStrike" kern="1200" cap="none" spc="0" normalizeH="0" baseline="0" noProof="0" dirty="0">
                <a:ln>
                  <a:noFill/>
                </a:ln>
                <a:solidFill>
                  <a:srgbClr val="315D4A"/>
                </a:solidFill>
                <a:effectLst/>
                <a:uLnTx/>
                <a:uFillTx/>
                <a:latin typeface="Georgia"/>
                <a:ea typeface="+mn-ea"/>
                <a:cs typeface="+mn-cs"/>
              </a:rPr>
              <a:t>are </a:t>
            </a:r>
            <a:r>
              <a:rPr kumimoji="0" sz="2300" b="1" i="0" u="none" strike="noStrike" kern="1200" cap="none" spc="0" normalizeH="0" baseline="0" noProof="0" dirty="0">
                <a:ln>
                  <a:noFill/>
                </a:ln>
                <a:solidFill>
                  <a:srgbClr val="315D4A"/>
                </a:solidFill>
                <a:effectLst/>
                <a:uLnTx/>
                <a:uFillTx/>
                <a:latin typeface="Georgia"/>
                <a:ea typeface="+mn-ea"/>
                <a:cs typeface="+mn-cs"/>
              </a:rPr>
              <a:t>outline</a:t>
            </a:r>
            <a:r>
              <a:rPr kumimoji="0" lang="en-US" sz="2300" b="1" i="0" u="none" strike="noStrike" kern="1200" cap="none" spc="0" normalizeH="0" baseline="0" noProof="0" dirty="0">
                <a:ln>
                  <a:noFill/>
                </a:ln>
                <a:solidFill>
                  <a:srgbClr val="315D4A"/>
                </a:solidFill>
                <a:effectLst/>
                <a:uLnTx/>
                <a:uFillTx/>
                <a:latin typeface="Georgia"/>
                <a:ea typeface="+mn-ea"/>
                <a:cs typeface="+mn-cs"/>
              </a:rPr>
              <a:t>d</a:t>
            </a:r>
            <a:r>
              <a:rPr kumimoji="0" sz="2300" b="1" i="0" u="none" strike="noStrike" kern="1200" cap="none" spc="0" normalizeH="0" baseline="0" noProof="0" dirty="0">
                <a:ln>
                  <a:noFill/>
                </a:ln>
                <a:solidFill>
                  <a:srgbClr val="315D4A"/>
                </a:solidFill>
                <a:effectLst/>
                <a:uLnTx/>
                <a:uFillTx/>
                <a:latin typeface="Georgia"/>
                <a:ea typeface="+mn-ea"/>
                <a:cs typeface="+mn-cs"/>
              </a:rPr>
              <a:t>, but th</a:t>
            </a:r>
            <a:r>
              <a:rPr kumimoji="0" lang="en-US" sz="2300" b="1" i="0" u="none" strike="noStrike" kern="1200" cap="none" spc="0" normalizeH="0" baseline="0" noProof="0" dirty="0">
                <a:ln>
                  <a:noFill/>
                </a:ln>
                <a:solidFill>
                  <a:srgbClr val="315D4A"/>
                </a:solidFill>
                <a:effectLst/>
                <a:uLnTx/>
                <a:uFillTx/>
                <a:latin typeface="Georgia"/>
                <a:ea typeface="+mn-ea"/>
                <a:cs typeface="+mn-cs"/>
              </a:rPr>
              <a:t>ere are several</a:t>
            </a:r>
            <a:r>
              <a:rPr kumimoji="0" sz="2300" b="1" i="0" u="none" strike="noStrike" kern="1200" cap="none" spc="0" normalizeH="0" baseline="0" noProof="0" dirty="0">
                <a:ln>
                  <a:noFill/>
                </a:ln>
                <a:solidFill>
                  <a:srgbClr val="315D4A"/>
                </a:solidFill>
                <a:effectLst/>
                <a:uLnTx/>
                <a:uFillTx/>
                <a:latin typeface="Georgia"/>
                <a:ea typeface="+mn-ea"/>
                <a:cs typeface="+mn-cs"/>
              </a:rPr>
              <a:t> manuscript-level visuals still worth adding.</a:t>
            </a:r>
          </a:p>
        </p:txBody>
      </p:sp>
      <p:sp>
        <p:nvSpPr>
          <p:cNvPr id="4" name="Rounded Rectangle 3"/>
          <p:cNvSpPr/>
          <p:nvPr/>
        </p:nvSpPr>
        <p:spPr>
          <a:xfrm>
            <a:off x="277369" y="2791453"/>
            <a:ext cx="5440680" cy="2459736"/>
          </a:xfrm>
          <a:prstGeom prst="roundRect">
            <a:avLst/>
          </a:prstGeom>
          <a:solidFill>
            <a:srgbClr val="EEF3EC"/>
          </a:solidFill>
          <a:ln>
            <a:solidFill>
              <a:srgbClr val="95C1A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p:cNvSpPr txBox="1"/>
          <p:nvPr/>
        </p:nvSpPr>
        <p:spPr>
          <a:xfrm>
            <a:off x="563119" y="2926971"/>
            <a:ext cx="4937760" cy="32004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2B302D"/>
                </a:solidFill>
                <a:effectLst/>
                <a:uLnTx/>
                <a:uFillTx/>
                <a:latin typeface="Aptos"/>
                <a:ea typeface="+mn-ea"/>
                <a:cs typeface="+mn-cs"/>
              </a:rPr>
              <a:t>Already covered by current figures</a:t>
            </a:r>
          </a:p>
        </p:txBody>
      </p:sp>
      <p:sp>
        <p:nvSpPr>
          <p:cNvPr id="6" name="TextBox 5"/>
          <p:cNvSpPr txBox="1"/>
          <p:nvPr/>
        </p:nvSpPr>
        <p:spPr>
          <a:xfrm>
            <a:off x="581407" y="3338069"/>
            <a:ext cx="4846320" cy="178510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sz="1400">
                <a:solidFill>
                  <a:srgbClr val="414141"/>
                </a:solidFill>
                <a:latin typeface="Aptos"/>
              </a:defRPr>
            </a:pPr>
            <a:r>
              <a:rPr kumimoji="0" sz="1400" b="1" i="0" u="none" strike="noStrike" kern="1200" cap="none" spc="0" normalizeH="0" baseline="0" noProof="0" dirty="0">
                <a:ln>
                  <a:noFill/>
                </a:ln>
                <a:solidFill>
                  <a:srgbClr val="2B302D"/>
                </a:solidFill>
                <a:effectLst/>
                <a:uLnTx/>
                <a:uFillTx/>
                <a:latin typeface="Aptos"/>
                <a:ea typeface="+mn-ea"/>
                <a:cs typeface="+mn-cs"/>
              </a:rPr>
              <a:t>3.4</a:t>
            </a:r>
            <a:r>
              <a:rPr kumimoji="0" sz="1400" b="0" i="0" u="none" strike="noStrike" kern="1200" cap="none" spc="0" normalizeH="0" baseline="0" noProof="0" dirty="0">
                <a:ln>
                  <a:noFill/>
                </a:ln>
                <a:solidFill>
                  <a:srgbClr val="2B302D"/>
                </a:solidFill>
                <a:effectLst/>
                <a:uLnTx/>
                <a:uFillTx/>
                <a:latin typeface="Aptos"/>
                <a:ea typeface="+mn-ea"/>
                <a:cs typeface="+mn-cs"/>
              </a:rPr>
              <a:t> Processing-stage changes — Figures 1 and 1.2</a:t>
            </a:r>
          </a:p>
          <a:p>
            <a:pPr marL="0" marR="0" lvl="0" indent="0" algn="l" defTabSz="914400" rtl="0" eaLnBrk="1" fontAlgn="auto" latinLnBrk="0" hangingPunct="1">
              <a:lnSpc>
                <a:spcPct val="100000"/>
              </a:lnSpc>
              <a:spcBef>
                <a:spcPts val="0"/>
              </a:spcBef>
              <a:spcAft>
                <a:spcPts val="1200"/>
              </a:spcAft>
              <a:buClrTx/>
              <a:buSzTx/>
              <a:buFontTx/>
              <a:buNone/>
              <a:tabLst/>
              <a:defRPr sz="1400">
                <a:solidFill>
                  <a:srgbClr val="414141"/>
                </a:solidFill>
                <a:latin typeface="Aptos"/>
              </a:defRPr>
            </a:pPr>
            <a:r>
              <a:rPr kumimoji="0" sz="1400" b="1" i="0" u="none" strike="noStrike" kern="1200" cap="none" spc="0" normalizeH="0" baseline="0" noProof="0" dirty="0">
                <a:ln>
                  <a:noFill/>
                </a:ln>
                <a:solidFill>
                  <a:srgbClr val="2B302D"/>
                </a:solidFill>
                <a:effectLst/>
                <a:uLnTx/>
                <a:uFillTx/>
                <a:latin typeface="Aptos"/>
                <a:ea typeface="+mn-ea"/>
                <a:cs typeface="+mn-cs"/>
              </a:rPr>
              <a:t>3.6</a:t>
            </a:r>
            <a:r>
              <a:rPr kumimoji="0" sz="1400" b="0" i="0" u="none" strike="noStrike" kern="1200" cap="none" spc="0" normalizeH="0" baseline="0" noProof="0" dirty="0">
                <a:ln>
                  <a:noFill/>
                </a:ln>
                <a:solidFill>
                  <a:srgbClr val="2B302D"/>
                </a:solidFill>
                <a:effectLst/>
                <a:uLnTx/>
                <a:uFillTx/>
                <a:latin typeface="Aptos"/>
                <a:ea typeface="+mn-ea"/>
                <a:cs typeface="+mn-cs"/>
              </a:rPr>
              <a:t> Overall and pair-specific yarn strength — Figures 2 and 3</a:t>
            </a:r>
          </a:p>
          <a:p>
            <a:pPr marL="0" marR="0" lvl="0" indent="0" algn="l" defTabSz="914400" rtl="0" eaLnBrk="1" fontAlgn="auto" latinLnBrk="0" hangingPunct="1">
              <a:lnSpc>
                <a:spcPct val="100000"/>
              </a:lnSpc>
              <a:spcBef>
                <a:spcPts val="0"/>
              </a:spcBef>
              <a:spcAft>
                <a:spcPts val="1200"/>
              </a:spcAft>
              <a:buClrTx/>
              <a:buSzTx/>
              <a:buFontTx/>
              <a:buNone/>
              <a:tabLst/>
              <a:defRPr sz="1400">
                <a:solidFill>
                  <a:srgbClr val="414141"/>
                </a:solidFill>
                <a:latin typeface="Aptos"/>
              </a:defRPr>
            </a:pPr>
            <a:r>
              <a:rPr kumimoji="0" sz="1400" b="1" i="0" u="none" strike="noStrike" kern="1200" cap="none" spc="0" normalizeH="0" baseline="0" noProof="0" dirty="0">
                <a:ln>
                  <a:noFill/>
                </a:ln>
                <a:solidFill>
                  <a:srgbClr val="2B302D"/>
                </a:solidFill>
                <a:effectLst/>
                <a:uLnTx/>
                <a:uFillTx/>
                <a:latin typeface="Aptos"/>
                <a:ea typeface="+mn-ea"/>
                <a:cs typeface="+mn-cs"/>
              </a:rPr>
              <a:t>3.7</a:t>
            </a:r>
            <a:r>
              <a:rPr kumimoji="0" sz="1400" b="0" i="0" u="none" strike="noStrike" kern="1200" cap="none" spc="0" normalizeH="0" baseline="0" noProof="0" dirty="0">
                <a:ln>
                  <a:noFill/>
                </a:ln>
                <a:solidFill>
                  <a:srgbClr val="2B302D"/>
                </a:solidFill>
                <a:effectLst/>
                <a:uLnTx/>
                <a:uFillTx/>
                <a:latin typeface="Aptos"/>
                <a:ea typeface="+mn-ea"/>
                <a:cs typeface="+mn-cs"/>
              </a:rPr>
              <a:t> Yarn-quality pattern — Figures 2, 5, and 6</a:t>
            </a:r>
          </a:p>
          <a:p>
            <a:pPr marL="0" marR="0" lvl="0" indent="0" algn="l" defTabSz="914400" rtl="0" eaLnBrk="1" fontAlgn="auto" latinLnBrk="0" hangingPunct="1">
              <a:lnSpc>
                <a:spcPct val="100000"/>
              </a:lnSpc>
              <a:spcBef>
                <a:spcPts val="0"/>
              </a:spcBef>
              <a:spcAft>
                <a:spcPts val="1200"/>
              </a:spcAft>
              <a:buClrTx/>
              <a:buSzTx/>
              <a:buFontTx/>
              <a:buNone/>
              <a:tabLst/>
              <a:defRPr sz="1400">
                <a:solidFill>
                  <a:srgbClr val="414141"/>
                </a:solidFill>
                <a:latin typeface="Aptos"/>
              </a:defRPr>
            </a:pPr>
            <a:r>
              <a:rPr kumimoji="0" sz="1400" b="1" i="0" u="none" strike="noStrike" kern="1200" cap="none" spc="0" normalizeH="0" baseline="0" noProof="0" dirty="0">
                <a:ln>
                  <a:noFill/>
                </a:ln>
                <a:solidFill>
                  <a:srgbClr val="2B302D"/>
                </a:solidFill>
                <a:effectLst/>
                <a:uLnTx/>
                <a:uFillTx/>
                <a:latin typeface="Aptos"/>
                <a:ea typeface="+mn-ea"/>
                <a:cs typeface="+mn-cs"/>
              </a:rPr>
              <a:t>3.8</a:t>
            </a:r>
            <a:r>
              <a:rPr kumimoji="0" sz="1400" b="0" i="0" u="none" strike="noStrike" kern="1200" cap="none" spc="0" normalizeH="0" baseline="0" noProof="0" dirty="0">
                <a:ln>
                  <a:noFill/>
                </a:ln>
                <a:solidFill>
                  <a:srgbClr val="2B302D"/>
                </a:solidFill>
                <a:effectLst/>
                <a:uLnTx/>
                <a:uFillTx/>
                <a:latin typeface="Aptos"/>
                <a:ea typeface="+mn-ea"/>
                <a:cs typeface="+mn-cs"/>
              </a:rPr>
              <a:t> Fiber-to-yarn relationships — Figures 4, 5, and 6</a:t>
            </a:r>
          </a:p>
          <a:p>
            <a:pPr marL="0" marR="0" lvl="0" indent="0" algn="l" defTabSz="914400" rtl="0" eaLnBrk="1" fontAlgn="auto" latinLnBrk="0" hangingPunct="1">
              <a:lnSpc>
                <a:spcPct val="100000"/>
              </a:lnSpc>
              <a:spcBef>
                <a:spcPts val="0"/>
              </a:spcBef>
              <a:spcAft>
                <a:spcPts val="1200"/>
              </a:spcAft>
              <a:buClrTx/>
              <a:buSzTx/>
              <a:buFontTx/>
              <a:buNone/>
              <a:tabLst/>
              <a:defRPr sz="1400">
                <a:solidFill>
                  <a:srgbClr val="414141"/>
                </a:solidFill>
                <a:latin typeface="Aptos"/>
              </a:defRPr>
            </a:pPr>
            <a:r>
              <a:rPr kumimoji="0" sz="1400" b="0" i="0" u="none" strike="noStrike" kern="1200" cap="none" spc="0" normalizeH="0" baseline="0" noProof="0" dirty="0">
                <a:ln>
                  <a:noFill/>
                </a:ln>
                <a:solidFill>
                  <a:srgbClr val="2B302D"/>
                </a:solidFill>
                <a:effectLst/>
                <a:uLnTx/>
                <a:uFillTx/>
                <a:latin typeface="Aptos"/>
                <a:ea typeface="+mn-ea"/>
                <a:cs typeface="+mn-cs"/>
              </a:rPr>
              <a:t>DP213 integrated case study — Figure 6</a:t>
            </a:r>
          </a:p>
        </p:txBody>
      </p:sp>
      <p:sp>
        <p:nvSpPr>
          <p:cNvPr id="7" name="Rounded Rectangle 6"/>
          <p:cNvSpPr/>
          <p:nvPr/>
        </p:nvSpPr>
        <p:spPr>
          <a:xfrm>
            <a:off x="6095847" y="763545"/>
            <a:ext cx="5349240" cy="5952702"/>
          </a:xfrm>
          <a:prstGeom prst="roundRect">
            <a:avLst/>
          </a:prstGeom>
          <a:solidFill>
            <a:srgbClr val="EEF3EC"/>
          </a:solidFill>
          <a:ln>
            <a:solidFill>
              <a:srgbClr val="95C1A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7"/>
          <p:cNvSpPr txBox="1"/>
          <p:nvPr/>
        </p:nvSpPr>
        <p:spPr>
          <a:xfrm>
            <a:off x="6473952" y="819414"/>
            <a:ext cx="4846320" cy="584775"/>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2B302D"/>
                </a:solidFill>
                <a:effectLst/>
                <a:uLnTx/>
                <a:uFillTx/>
                <a:latin typeface="Aptos"/>
                <a:ea typeface="+mn-ea"/>
                <a:cs typeface="+mn-cs"/>
              </a:rPr>
              <a:t>Additional figures </a:t>
            </a:r>
            <a:r>
              <a:rPr kumimoji="0" lang="en-US" sz="1600" b="1" i="0" u="none" strike="noStrike" kern="1200" cap="none" spc="0" normalizeH="0" baseline="0" noProof="0" dirty="0">
                <a:ln>
                  <a:noFill/>
                </a:ln>
                <a:solidFill>
                  <a:srgbClr val="2B302D"/>
                </a:solidFill>
                <a:effectLst/>
                <a:uLnTx/>
                <a:uFillTx/>
                <a:latin typeface="Aptos"/>
                <a:ea typeface="+mn-ea"/>
                <a:cs typeface="+mn-cs"/>
              </a:rPr>
              <a:t>and tables </a:t>
            </a:r>
            <a:r>
              <a:rPr kumimoji="0" sz="1600" b="1" i="0" u="none" strike="noStrike" kern="1200" cap="none" spc="0" normalizeH="0" baseline="0" noProof="0" dirty="0">
                <a:ln>
                  <a:noFill/>
                </a:ln>
                <a:solidFill>
                  <a:srgbClr val="2B302D"/>
                </a:solidFill>
                <a:effectLst/>
                <a:uLnTx/>
                <a:uFillTx/>
                <a:latin typeface="Aptos"/>
                <a:ea typeface="+mn-ea"/>
                <a:cs typeface="+mn-cs"/>
              </a:rPr>
              <a:t>to complete the manuscript story</a:t>
            </a:r>
          </a:p>
        </p:txBody>
      </p:sp>
      <p:sp>
        <p:nvSpPr>
          <p:cNvPr id="9" name="TextBox 8"/>
          <p:cNvSpPr txBox="1"/>
          <p:nvPr/>
        </p:nvSpPr>
        <p:spPr>
          <a:xfrm>
            <a:off x="6512051" y="1405643"/>
            <a:ext cx="4971135" cy="5262979"/>
          </a:xfrm>
          <a:prstGeom prst="rect">
            <a:avLst/>
          </a:prstGeom>
          <a:noFill/>
        </p:spPr>
        <p:txBody>
          <a:bodyPr wrap="square" anchor="t">
            <a:spAutoFit/>
          </a:bodyPr>
          <a:lstStyle/>
          <a:p>
            <a:pPr>
              <a:buNone/>
            </a:pPr>
            <a:r>
              <a:rPr lang="en-US" sz="1400" b="1" dirty="0"/>
              <a:t>3.1–3.2 | Starting material &amp; initial fiber phenotype</a:t>
            </a:r>
            <a:br>
              <a:rPr lang="en-US" sz="1400" dirty="0"/>
            </a:br>
            <a:r>
              <a:rPr lang="en-US" sz="1400" b="1" dirty="0"/>
              <a:t>Figure:</a:t>
            </a:r>
            <a:r>
              <a:rPr lang="en-US" sz="1400" dirty="0"/>
              <a:t> Processing-performance plot</a:t>
            </a:r>
            <a:br>
              <a:rPr lang="en-US" sz="1400" dirty="0"/>
            </a:br>
            <a:r>
              <a:rPr lang="en-US" sz="1400" b="1" dirty="0"/>
              <a:t>Tables:</a:t>
            </a:r>
            <a:r>
              <a:rPr lang="en-US" sz="1400" dirty="0"/>
              <a:t> Experimental design + initial HVI/AFIS/</a:t>
            </a:r>
            <a:r>
              <a:rPr lang="en-US" sz="1400" dirty="0" err="1"/>
              <a:t>fibrogram</a:t>
            </a:r>
            <a:r>
              <a:rPr lang="en-US" sz="1400" dirty="0"/>
              <a:t> results</a:t>
            </a:r>
          </a:p>
          <a:p>
            <a:pPr>
              <a:buNone/>
            </a:pPr>
            <a:endParaRPr lang="en-US" sz="1400" dirty="0"/>
          </a:p>
          <a:p>
            <a:pPr>
              <a:buNone/>
            </a:pPr>
            <a:r>
              <a:rPr lang="en-US" sz="1400" b="1" dirty="0"/>
              <a:t>3.3 | Full fiber-length distribution</a:t>
            </a:r>
            <a:br>
              <a:rPr lang="en-US" sz="1400" dirty="0"/>
            </a:br>
            <a:r>
              <a:rPr lang="en-US" sz="1400" b="1" dirty="0"/>
              <a:t>Figure:</a:t>
            </a:r>
            <a:r>
              <a:rPr lang="en-US" sz="1400" dirty="0"/>
              <a:t> AFIS/</a:t>
            </a:r>
            <a:r>
              <a:rPr lang="en-US" sz="1400" dirty="0" err="1"/>
              <a:t>fibrogram</a:t>
            </a:r>
            <a:r>
              <a:rPr lang="en-US" sz="1400" dirty="0"/>
              <a:t> distributions across harvest and ginning contexts</a:t>
            </a:r>
            <a:br>
              <a:rPr lang="en-US" sz="1400" dirty="0"/>
            </a:br>
            <a:r>
              <a:rPr lang="en-US" sz="1400" b="1" dirty="0"/>
              <a:t>Supplement:</a:t>
            </a:r>
            <a:r>
              <a:rPr lang="en-US" sz="1400" dirty="0"/>
              <a:t> Environment/context-level statistical summaries</a:t>
            </a:r>
            <a:br>
              <a:rPr lang="en-US" sz="1400" dirty="0"/>
            </a:br>
            <a:r>
              <a:rPr lang="en-US" sz="1400" b="1" dirty="0"/>
              <a:t>Priority:</a:t>
            </a:r>
            <a:r>
              <a:rPr lang="en-US" sz="1400" dirty="0"/>
              <a:t> Major remaining analysis</a:t>
            </a:r>
          </a:p>
          <a:p>
            <a:pPr>
              <a:buNone/>
            </a:pPr>
            <a:endParaRPr lang="en-US" sz="1400" dirty="0"/>
          </a:p>
          <a:p>
            <a:pPr>
              <a:buNone/>
            </a:pPr>
            <a:r>
              <a:rPr lang="en-US" sz="1400" b="1" dirty="0"/>
              <a:t>3.4–3.5 | Processing response</a:t>
            </a:r>
            <a:br>
              <a:rPr lang="en-US" sz="1400" dirty="0"/>
            </a:br>
            <a:r>
              <a:rPr lang="en-US" sz="1400" b="1" dirty="0"/>
              <a:t>Figures:</a:t>
            </a:r>
            <a:r>
              <a:rPr lang="en-US" sz="1400" dirty="0"/>
              <a:t> Overall processing + QTL trajectories</a:t>
            </a:r>
            <a:br>
              <a:rPr lang="en-US" sz="1400" dirty="0"/>
            </a:br>
            <a:r>
              <a:rPr lang="en-US" sz="1400" b="1" dirty="0"/>
              <a:t>Table:</a:t>
            </a:r>
            <a:r>
              <a:rPr lang="en-US" sz="1400" dirty="0"/>
              <a:t> Stage, QTL, and QTL × stage model results</a:t>
            </a:r>
          </a:p>
          <a:p>
            <a:pPr>
              <a:buNone/>
            </a:pPr>
            <a:endParaRPr lang="en-US" sz="1400" dirty="0"/>
          </a:p>
          <a:p>
            <a:pPr>
              <a:buNone/>
            </a:pPr>
            <a:r>
              <a:rPr lang="en-US" sz="1400" b="1" dirty="0"/>
              <a:t>3.6–3.7 | Yarn performance</a:t>
            </a:r>
            <a:br>
              <a:rPr lang="en-US" sz="1400" dirty="0"/>
            </a:br>
            <a:r>
              <a:rPr lang="en-US" sz="1400" b="1" dirty="0"/>
              <a:t>Figures:</a:t>
            </a:r>
            <a:r>
              <a:rPr lang="en-US" sz="1400" dirty="0"/>
              <a:t> Overall yarn effects + sister-pair tenacity</a:t>
            </a:r>
            <a:br>
              <a:rPr lang="en-US" sz="1400" dirty="0"/>
            </a:br>
            <a:r>
              <a:rPr lang="en-US" sz="1400" b="1" dirty="0"/>
              <a:t>Tables:</a:t>
            </a:r>
            <a:r>
              <a:rPr lang="en-US" sz="1400" dirty="0"/>
              <a:t> Primary yarn models + pair-specific contrasts</a:t>
            </a:r>
          </a:p>
          <a:p>
            <a:pPr>
              <a:buNone/>
            </a:pPr>
            <a:endParaRPr lang="en-US" sz="1400" dirty="0"/>
          </a:p>
          <a:p>
            <a:pPr>
              <a:buNone/>
            </a:pPr>
            <a:r>
              <a:rPr lang="en-US" sz="1400" b="1" dirty="0"/>
              <a:t>3.8–3.9 | Fiber-to-yarn integration &amp; robustness</a:t>
            </a:r>
            <a:br>
              <a:rPr lang="en-US" sz="1400" dirty="0"/>
            </a:br>
            <a:r>
              <a:rPr lang="en-US" sz="1400" b="1" dirty="0"/>
              <a:t>Figures:</a:t>
            </a:r>
            <a:r>
              <a:rPr lang="en-US" sz="1400" dirty="0"/>
              <a:t> Scatterplots + heatmap + DP213 profile</a:t>
            </a:r>
            <a:br>
              <a:rPr lang="en-US" sz="1400" dirty="0"/>
            </a:br>
            <a:r>
              <a:rPr lang="en-US" sz="1400" b="1" dirty="0"/>
              <a:t>Table:</a:t>
            </a:r>
            <a:r>
              <a:rPr lang="en-US" sz="1400" dirty="0"/>
              <a:t> Key fiber-to-yarn associations</a:t>
            </a:r>
            <a:br>
              <a:rPr lang="en-US" sz="1400" dirty="0"/>
            </a:br>
            <a:r>
              <a:rPr lang="en-US" sz="1400" b="1" dirty="0"/>
              <a:t>Supplement:</a:t>
            </a:r>
            <a:r>
              <a:rPr lang="en-US" sz="1400" dirty="0"/>
              <a:t> Ratch/yarn-count sensitivity</a:t>
            </a:r>
          </a:p>
        </p:txBody>
      </p:sp>
      <p:sp>
        <p:nvSpPr>
          <p:cNvPr id="16" name="Rectangle 15"/>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1155680" cy="50292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315D4A"/>
                </a:solidFill>
                <a:effectLst/>
                <a:uLnTx/>
                <a:uFillTx/>
                <a:latin typeface="Georgia"/>
                <a:ea typeface="+mn-ea"/>
                <a:cs typeface="+mn-cs"/>
              </a:rPr>
              <a:t>Focused Questions for Advisor</a:t>
            </a:r>
          </a:p>
        </p:txBody>
      </p:sp>
      <p:sp>
        <p:nvSpPr>
          <p:cNvPr id="3" name="TextBox 2"/>
          <p:cNvSpPr txBox="1"/>
          <p:nvPr/>
        </p:nvSpPr>
        <p:spPr>
          <a:xfrm>
            <a:off x="521207" y="804672"/>
            <a:ext cx="10972800" cy="36576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300" b="1" i="0" u="none" strike="noStrike" kern="1200" cap="none" spc="0" normalizeH="0" baseline="0" noProof="0">
                <a:ln>
                  <a:noFill/>
                </a:ln>
                <a:solidFill>
                  <a:srgbClr val="315D4A"/>
                </a:solidFill>
                <a:effectLst/>
                <a:uLnTx/>
                <a:uFillTx/>
                <a:latin typeface="Georgia"/>
                <a:ea typeface="+mn-ea"/>
                <a:cs typeface="+mn-cs"/>
              </a:rPr>
              <a:t>Decisions that will help determine the next analysis and writing steps.</a:t>
            </a:r>
          </a:p>
        </p:txBody>
      </p:sp>
      <p:sp>
        <p:nvSpPr>
          <p:cNvPr id="4" name="Oval 3"/>
          <p:cNvSpPr/>
          <p:nvPr/>
        </p:nvSpPr>
        <p:spPr>
          <a:xfrm>
            <a:off x="658368" y="1353312"/>
            <a:ext cx="475488" cy="475488"/>
          </a:xfrm>
          <a:prstGeom prst="ellipse">
            <a:avLst/>
          </a:prstGeom>
          <a:solidFill>
            <a:srgbClr val="315D4A"/>
          </a:solidFill>
          <a:ln>
            <a:solidFill>
              <a:srgbClr val="315D4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p:cNvSpPr txBox="1"/>
          <p:nvPr/>
        </p:nvSpPr>
        <p:spPr>
          <a:xfrm>
            <a:off x="658368" y="1362456"/>
            <a:ext cx="475488" cy="43891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Aptos"/>
                <a:ea typeface="+mn-ea"/>
                <a:cs typeface="+mn-cs"/>
              </a:rPr>
              <a:t>1</a:t>
            </a:r>
          </a:p>
        </p:txBody>
      </p:sp>
      <p:sp>
        <p:nvSpPr>
          <p:cNvPr id="6" name="TextBox 5"/>
          <p:cNvSpPr txBox="1"/>
          <p:nvPr/>
        </p:nvSpPr>
        <p:spPr>
          <a:xfrm>
            <a:off x="1298448" y="1335024"/>
            <a:ext cx="10149840" cy="31089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2B302D"/>
                </a:solidFill>
                <a:effectLst/>
                <a:uLnTx/>
                <a:uFillTx/>
                <a:latin typeface="Aptos"/>
                <a:ea typeface="+mn-ea"/>
                <a:cs typeface="+mn-cs"/>
              </a:rPr>
              <a:t>Is this the right central manuscript story?</a:t>
            </a:r>
          </a:p>
        </p:txBody>
      </p:sp>
      <p:sp>
        <p:nvSpPr>
          <p:cNvPr id="7" name="TextBox 6"/>
          <p:cNvSpPr txBox="1"/>
          <p:nvPr/>
        </p:nvSpPr>
        <p:spPr>
          <a:xfrm>
            <a:off x="1298448" y="1682495"/>
            <a:ext cx="10104120" cy="62179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2B302D"/>
                </a:solidFill>
                <a:effectLst/>
                <a:uLnTx/>
                <a:uFillTx/>
                <a:latin typeface="Aptos"/>
                <a:ea typeface="+mn-ea"/>
                <a:cs typeface="+mn-cs"/>
              </a:rPr>
              <a:t>Emphasize persistence of the upper-tail fiber phenotype through processing and its association with yarn tenacity, rather than framing the manuscript around a strong overall QTL effect on yarn.</a:t>
            </a:r>
          </a:p>
        </p:txBody>
      </p:sp>
      <p:sp>
        <p:nvSpPr>
          <p:cNvPr id="8" name="Oval 7"/>
          <p:cNvSpPr/>
          <p:nvPr/>
        </p:nvSpPr>
        <p:spPr>
          <a:xfrm>
            <a:off x="658368" y="2468880"/>
            <a:ext cx="475488" cy="475488"/>
          </a:xfrm>
          <a:prstGeom prst="ellipse">
            <a:avLst/>
          </a:prstGeom>
          <a:solidFill>
            <a:srgbClr val="315D4A"/>
          </a:solidFill>
          <a:ln>
            <a:solidFill>
              <a:srgbClr val="315D4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p:cNvSpPr txBox="1"/>
          <p:nvPr/>
        </p:nvSpPr>
        <p:spPr>
          <a:xfrm>
            <a:off x="658368" y="2478024"/>
            <a:ext cx="475488" cy="43891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Aptos"/>
                <a:ea typeface="+mn-ea"/>
                <a:cs typeface="+mn-cs"/>
              </a:rPr>
              <a:t>2</a:t>
            </a:r>
          </a:p>
        </p:txBody>
      </p:sp>
      <p:sp>
        <p:nvSpPr>
          <p:cNvPr id="10" name="TextBox 9"/>
          <p:cNvSpPr txBox="1"/>
          <p:nvPr/>
        </p:nvSpPr>
        <p:spPr>
          <a:xfrm>
            <a:off x="1298448" y="2450592"/>
            <a:ext cx="10149840" cy="31089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2B302D"/>
                </a:solidFill>
                <a:effectLst/>
                <a:uLnTx/>
                <a:uFillTx/>
                <a:latin typeface="Aptos"/>
                <a:ea typeface="+mn-ea"/>
                <a:cs typeface="+mn-cs"/>
              </a:rPr>
              <a:t>How prominently should pair-specific responses be featured?</a:t>
            </a:r>
          </a:p>
        </p:txBody>
      </p:sp>
      <p:sp>
        <p:nvSpPr>
          <p:cNvPr id="11" name="TextBox 10"/>
          <p:cNvSpPr txBox="1"/>
          <p:nvPr/>
        </p:nvSpPr>
        <p:spPr>
          <a:xfrm>
            <a:off x="1298448" y="2798064"/>
            <a:ext cx="10104120" cy="62179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2B302D"/>
                </a:solidFill>
                <a:effectLst/>
                <a:uLnTx/>
                <a:uFillTx/>
                <a:latin typeface="Aptos"/>
                <a:ea typeface="+mn-ea"/>
                <a:cs typeface="+mn-cs"/>
              </a:rPr>
              <a:t>DP213 is the clearest fiber-to-yarn example, but the formal background × QTL interaction was not significant. Should DP213 and other sister-line contrasts remain in the main Results or be secondary/supporting material?</a:t>
            </a:r>
          </a:p>
        </p:txBody>
      </p:sp>
      <p:sp>
        <p:nvSpPr>
          <p:cNvPr id="12" name="Oval 11"/>
          <p:cNvSpPr/>
          <p:nvPr/>
        </p:nvSpPr>
        <p:spPr>
          <a:xfrm>
            <a:off x="658368" y="3584448"/>
            <a:ext cx="475488" cy="475488"/>
          </a:xfrm>
          <a:prstGeom prst="ellipse">
            <a:avLst/>
          </a:prstGeom>
          <a:solidFill>
            <a:srgbClr val="315D4A"/>
          </a:solidFill>
          <a:ln>
            <a:solidFill>
              <a:srgbClr val="315D4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p:cNvSpPr txBox="1"/>
          <p:nvPr/>
        </p:nvSpPr>
        <p:spPr>
          <a:xfrm>
            <a:off x="658368" y="3593591"/>
            <a:ext cx="475488" cy="43891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Aptos"/>
                <a:ea typeface="+mn-ea"/>
                <a:cs typeface="+mn-cs"/>
              </a:rPr>
              <a:t>3</a:t>
            </a:r>
          </a:p>
        </p:txBody>
      </p:sp>
      <p:sp>
        <p:nvSpPr>
          <p:cNvPr id="18" name="TextBox 17"/>
          <p:cNvSpPr txBox="1"/>
          <p:nvPr/>
        </p:nvSpPr>
        <p:spPr>
          <a:xfrm>
            <a:off x="1298448" y="3470148"/>
            <a:ext cx="10149840" cy="31089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2B302D"/>
                </a:solidFill>
                <a:effectLst/>
                <a:uLnTx/>
                <a:uFillTx/>
                <a:latin typeface="Aptos"/>
                <a:ea typeface="+mn-ea"/>
                <a:cs typeface="+mn-cs"/>
              </a:rPr>
              <a:t>Does the proposed manuscript scope feel appropriately focused?</a:t>
            </a:r>
          </a:p>
        </p:txBody>
      </p:sp>
      <p:sp>
        <p:nvSpPr>
          <p:cNvPr id="19" name="TextBox 18"/>
          <p:cNvSpPr txBox="1"/>
          <p:nvPr/>
        </p:nvSpPr>
        <p:spPr>
          <a:xfrm>
            <a:off x="1298448" y="3771900"/>
            <a:ext cx="10104120" cy="62179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dirty="0">
                <a:ln>
                  <a:noFill/>
                </a:ln>
                <a:solidFill>
                  <a:srgbClr val="2B302D"/>
                </a:solidFill>
                <a:effectLst/>
                <a:uLnTx/>
                <a:uFillTx/>
                <a:latin typeface="Aptos"/>
                <a:ea typeface="+mn-ea"/>
                <a:cs typeface="+mn-cs"/>
              </a:rPr>
              <a:t>Current plan excludes yield and centers the paper on fiber distribution, processing response, and end-use performance.</a:t>
            </a:r>
          </a:p>
        </p:txBody>
      </p:sp>
      <p:sp>
        <p:nvSpPr>
          <p:cNvPr id="20" name="TextBox 19"/>
          <p:cNvSpPr txBox="1"/>
          <p:nvPr/>
        </p:nvSpPr>
        <p:spPr>
          <a:xfrm>
            <a:off x="685800" y="5806440"/>
            <a:ext cx="10789920" cy="274320"/>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2B302D"/>
                </a:solidFill>
                <a:effectLst/>
                <a:uLnTx/>
                <a:uFillTx/>
                <a:latin typeface="Aptos"/>
                <a:ea typeface="+mn-ea"/>
                <a:cs typeface="+mn-cs"/>
              </a:rPr>
              <a:t>Goal for the meeting: leave with agreement on the manuscript story, scope, and next analysis priority.</a:t>
            </a:r>
          </a:p>
        </p:txBody>
      </p:sp>
      <p:sp>
        <p:nvSpPr>
          <p:cNvPr id="21" name="Rectangle 20"/>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3C1FA-E5BF-031E-94A5-F3E9D6D756DB}"/>
              </a:ext>
            </a:extLst>
          </p:cNvPr>
          <p:cNvSpPr>
            <a:spLocks noGrp="1"/>
          </p:cNvSpPr>
          <p:nvPr>
            <p:ph type="title"/>
          </p:nvPr>
        </p:nvSpPr>
        <p:spPr>
          <a:xfrm>
            <a:off x="838200" y="69850"/>
            <a:ext cx="10515600" cy="1325563"/>
          </a:xfrm>
        </p:spPr>
        <p:txBody>
          <a:bodyPr wrap="square"/>
          <a:lstStyle/>
          <a:p>
            <a:r>
              <a:rPr lang="en-US" sz="2600" b="1" dirty="0">
                <a:solidFill>
                  <a:srgbClr val="315D4A"/>
                </a:solidFill>
                <a:latin typeface="Georgia"/>
              </a:rPr>
              <a:t>New project arriving April/May 2027</a:t>
            </a:r>
          </a:p>
        </p:txBody>
      </p:sp>
      <p:pic>
        <p:nvPicPr>
          <p:cNvPr id="5" name="Content Placeholder 4">
            <a:extLst>
              <a:ext uri="{FF2B5EF4-FFF2-40B4-BE49-F238E27FC236}">
                <a16:creationId xmlns:a16="http://schemas.microsoft.com/office/drawing/2014/main" id="{E74A19CA-CE2E-0277-77A3-8071E3746A9B}"/>
              </a:ext>
            </a:extLst>
          </p:cNvPr>
          <p:cNvPicPr>
            <a:picLocks noGrp="1" noChangeAspect="1"/>
          </p:cNvPicPr>
          <p:nvPr>
            <p:ph idx="1"/>
          </p:nvPr>
        </p:nvPicPr>
        <p:blipFill>
          <a:blip r:embed="rId2"/>
          <a:srcRect t="17386" b="19340"/>
          <a:stretch>
            <a:fillRect/>
          </a:stretch>
        </p:blipFill>
        <p:spPr>
          <a:xfrm>
            <a:off x="2727424" y="1174224"/>
            <a:ext cx="6737152" cy="5683776"/>
          </a:xfrm>
          <a:prstGeom prst="rect">
            <a:avLst/>
          </a:prstGeom>
        </p:spPr>
      </p:pic>
      <p:sp>
        <p:nvSpPr>
          <p:cNvPr id="6" name="Rectangle 5"/>
          <p:cNvSpPr/>
          <p:nvPr/>
        </p:nvSpPr>
        <p:spPr>
          <a:xfrm>
            <a:off x="0" y="6784848"/>
            <a:ext cx="12191695" cy="73152"/>
          </a:xfrm>
          <a:prstGeom prst="rect">
            <a:avLst/>
          </a:prstGeom>
          <a:solidFill>
            <a:srgbClr val="315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007670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1146</TotalTime>
  <Words>1291</Words>
  <Application>Microsoft Office PowerPoint</Application>
  <PresentationFormat>Widescreen</PresentationFormat>
  <Paragraphs>102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Georgia</vt:lpstr>
      <vt:lpstr>Office Theme</vt:lpstr>
      <vt:lpstr>From fiber-length distribution to yarn performance: end-use evaluation of qFL-Chr.25 in cotton near-isogenic introgression lines</vt:lpstr>
      <vt:lpstr>Study Objective/ Manuscript Questions</vt:lpstr>
      <vt:lpstr>Experimental Design/Matched Fiber-to-Yarn Workflow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Integrated Results Summary</vt:lpstr>
      <vt:lpstr>PowerPoint Presentation</vt:lpstr>
      <vt:lpstr>PowerPoint Presentation</vt:lpstr>
      <vt:lpstr>PowerPoint Presentation</vt:lpstr>
      <vt:lpstr>New project arriving April/May 2027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Samantha Jo Wan</dc:creator>
  <cp:lastModifiedBy>Samantha Jo Wan</cp:lastModifiedBy>
  <cp:revision>12</cp:revision>
  <dcterms:created xsi:type="dcterms:W3CDTF">2026-09-20T19:56:58Z</dcterms:created>
  <dcterms:modified xsi:type="dcterms:W3CDTF">2026-09-21T15:09:14Z</dcterms:modified>
</cp:coreProperties>
</file>